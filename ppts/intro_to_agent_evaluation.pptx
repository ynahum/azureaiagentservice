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22" autoAdjust="0"/>
    <p:restoredTop sz="94660"/>
  </p:normalViewPr>
  <p:slideViewPr>
    <p:cSldViewPr snapToGrid="0">
      <p:cViewPr varScale="1">
        <p:scale>
          <a:sx n="78" d="100"/>
          <a:sy n="78" d="100"/>
        </p:scale>
        <p:origin x="518"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B917-2048-6BC7-82CE-54136386DB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3287AB-85F7-CD35-9F7C-447562AE3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C4C1792-0FB5-EFB9-17CE-5A7C0DDA44E0}"/>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5" name="Footer Placeholder 4">
            <a:extLst>
              <a:ext uri="{FF2B5EF4-FFF2-40B4-BE49-F238E27FC236}">
                <a16:creationId xmlns:a16="http://schemas.microsoft.com/office/drawing/2014/main" id="{3634E653-A636-BB11-1450-63281F4B28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632241-7368-D8B1-74F4-847F3E1D187E}"/>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271677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8F6BA-866A-37DB-131C-F2ADD9C58C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FA9037-39A5-7702-1E16-6966BF0CB4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6D21D6-55E7-BABD-DFDC-0816D31FD4F5}"/>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5" name="Footer Placeholder 4">
            <a:extLst>
              <a:ext uri="{FF2B5EF4-FFF2-40B4-BE49-F238E27FC236}">
                <a16:creationId xmlns:a16="http://schemas.microsoft.com/office/drawing/2014/main" id="{3030711B-51A3-2581-90F4-E2E5F0C135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9E439E-6947-9E2E-3B80-2E659CBFEC42}"/>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2904382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A6EFF-F03B-C1F8-F90C-0F46CFD778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7AD3C0-6A1C-DB65-542D-EA4E116117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3895D3-A6A0-96A5-E248-A3EF0725A45C}"/>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5" name="Footer Placeholder 4">
            <a:extLst>
              <a:ext uri="{FF2B5EF4-FFF2-40B4-BE49-F238E27FC236}">
                <a16:creationId xmlns:a16="http://schemas.microsoft.com/office/drawing/2014/main" id="{29806EA9-2949-9689-0F9A-FCD95B3DEB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0461FC-0C4D-FA59-4666-935509BF0CD0}"/>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2863447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ED0D9-DBCD-32F9-F2F6-DE3535E743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0D22E3-463D-070F-3585-348A6F2405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0FE2F1-F11A-543A-03C9-F6EC01E037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F38FFC-3186-49CB-5B8A-D28ACCE97A25}"/>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6" name="Footer Placeholder 5">
            <a:extLst>
              <a:ext uri="{FF2B5EF4-FFF2-40B4-BE49-F238E27FC236}">
                <a16:creationId xmlns:a16="http://schemas.microsoft.com/office/drawing/2014/main" id="{FD7D2319-4E62-09C2-F8A5-E95BBD44D2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91E1AE-5343-DE5A-ED94-7916016E811F}"/>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988221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46367-9E05-8BF1-6D90-7FB9B3D96ED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25A340-00F5-4072-F9D9-096C70D517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C38E61-C844-DE84-C881-9186D64A92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EB0916-8219-6B76-0A4B-602EDC6E0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9B9464-DA33-D413-7F60-6F2CAAD570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4A05DA-CAA2-B8C4-66FB-2C372399AB4C}"/>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8" name="Footer Placeholder 7">
            <a:extLst>
              <a:ext uri="{FF2B5EF4-FFF2-40B4-BE49-F238E27FC236}">
                <a16:creationId xmlns:a16="http://schemas.microsoft.com/office/drawing/2014/main" id="{4707C6C4-4943-662B-AA2C-6391F2B11A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A9CA15-0EA7-6440-FE46-1F085487B599}"/>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3431799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2AD3C-B5FE-2982-BC02-2D1D2E51ED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88BA11A-EE72-5D69-D123-2840EF23094C}"/>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4" name="Footer Placeholder 3">
            <a:extLst>
              <a:ext uri="{FF2B5EF4-FFF2-40B4-BE49-F238E27FC236}">
                <a16:creationId xmlns:a16="http://schemas.microsoft.com/office/drawing/2014/main" id="{F894076F-BC9C-DCF6-D382-1CB8366A35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529C5A-6526-556F-5657-536955BB817D}"/>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975425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EE90EB-17C5-0CDA-E327-89A10EC0F332}"/>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3" name="Footer Placeholder 2">
            <a:extLst>
              <a:ext uri="{FF2B5EF4-FFF2-40B4-BE49-F238E27FC236}">
                <a16:creationId xmlns:a16="http://schemas.microsoft.com/office/drawing/2014/main" id="{BE5D8892-1EFB-4A41-41DE-BF3ED597D5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74E131-C1DD-5D9A-D9AB-66684311F898}"/>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367666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88230-9B9C-9396-A864-5244B769ED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7000D3-65FA-8DC7-5959-28FFA7A3CF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E973059-E665-BCD3-9C2E-926FDA2FD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82E27B-8D51-A658-2BC5-F5DB84A373AB}"/>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6" name="Footer Placeholder 5">
            <a:extLst>
              <a:ext uri="{FF2B5EF4-FFF2-40B4-BE49-F238E27FC236}">
                <a16:creationId xmlns:a16="http://schemas.microsoft.com/office/drawing/2014/main" id="{37CDD1E8-D094-3573-5114-AD71D1A901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B0BD0C-FFF4-E43A-8534-34FEA15D2BAB}"/>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2728117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E6B7C-FD0B-A8F2-B7FF-9C61E03549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F3F261-D00B-1296-91A9-092ACB5C10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E65C8A-7F9D-D390-5B12-05F08F828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3DFF4-9411-1F88-DDB1-0F216D59F90B}"/>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6" name="Footer Placeholder 5">
            <a:extLst>
              <a:ext uri="{FF2B5EF4-FFF2-40B4-BE49-F238E27FC236}">
                <a16:creationId xmlns:a16="http://schemas.microsoft.com/office/drawing/2014/main" id="{1F6585A9-44CF-C489-24D6-B2C2EC1FC4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0FB4EB-9F5E-50C3-BCD1-B6296A9F95A6}"/>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83387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BA28A-EF10-FD05-4BDA-C9FCBC21A6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E36B06-E1F8-EB75-DF05-4FC3979874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5BE7D8-7C33-E678-8DA7-F5D51C30742B}"/>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5" name="Footer Placeholder 4">
            <a:extLst>
              <a:ext uri="{FF2B5EF4-FFF2-40B4-BE49-F238E27FC236}">
                <a16:creationId xmlns:a16="http://schemas.microsoft.com/office/drawing/2014/main" id="{7FDC5BA2-F8EA-E681-58B9-0BEEF24AF7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BC028D-432D-41A6-384C-7914ED9AB28D}"/>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1049682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B326C4-3B23-1EA8-B386-8642DC40C9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BAA382-CC28-E443-0575-B3B9272AAB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53EEF7-2FFF-8F43-5F19-D594E74DF02B}"/>
              </a:ext>
            </a:extLst>
          </p:cNvPr>
          <p:cNvSpPr>
            <a:spLocks noGrp="1"/>
          </p:cNvSpPr>
          <p:nvPr>
            <p:ph type="dt" sz="half" idx="10"/>
          </p:nvPr>
        </p:nvSpPr>
        <p:spPr/>
        <p:txBody>
          <a:bodyPr/>
          <a:lstStyle/>
          <a:p>
            <a:fld id="{0B8A4894-10C9-419F-9D89-1D1C77CA6653}" type="datetimeFigureOut">
              <a:rPr lang="en-IN" smtClean="0"/>
              <a:t>17-03-2025</a:t>
            </a:fld>
            <a:endParaRPr lang="en-IN"/>
          </a:p>
        </p:txBody>
      </p:sp>
      <p:sp>
        <p:nvSpPr>
          <p:cNvPr id="5" name="Footer Placeholder 4">
            <a:extLst>
              <a:ext uri="{FF2B5EF4-FFF2-40B4-BE49-F238E27FC236}">
                <a16:creationId xmlns:a16="http://schemas.microsoft.com/office/drawing/2014/main" id="{3C0E9801-0A59-2D2C-3EBC-FDD5C7FB72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0C7853-DCD9-B54F-814A-C4D4652C6BC8}"/>
              </a:ext>
            </a:extLst>
          </p:cNvPr>
          <p:cNvSpPr>
            <a:spLocks noGrp="1"/>
          </p:cNvSpPr>
          <p:nvPr>
            <p:ph type="sldNum" sz="quarter" idx="12"/>
          </p:nvPr>
        </p:nvSpPr>
        <p:spPr/>
        <p:txBody>
          <a:bodyPr/>
          <a:lstStyle/>
          <a:p>
            <a:fld id="{8D5503FB-40B8-44CC-A9CB-06163D8ED50B}" type="slidenum">
              <a:rPr lang="en-IN" smtClean="0"/>
              <a:t>‹#›</a:t>
            </a:fld>
            <a:endParaRPr lang="en-IN"/>
          </a:p>
        </p:txBody>
      </p:sp>
    </p:spTree>
    <p:extLst>
      <p:ext uri="{BB962C8B-B14F-4D97-AF65-F5344CB8AC3E}">
        <p14:creationId xmlns:p14="http://schemas.microsoft.com/office/powerpoint/2010/main" val="4095106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52365D-414D-281B-D4A8-2165BE1025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B9B111-99AC-94FD-4D3F-CC5A80BE39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BCFB30-A39E-9531-10FF-F13A24A8EA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8A4894-10C9-419F-9D89-1D1C77CA6653}" type="datetimeFigureOut">
              <a:rPr lang="en-IN" smtClean="0"/>
              <a:t>17-03-2025</a:t>
            </a:fld>
            <a:endParaRPr lang="en-IN"/>
          </a:p>
        </p:txBody>
      </p:sp>
      <p:sp>
        <p:nvSpPr>
          <p:cNvPr id="5" name="Footer Placeholder 4">
            <a:extLst>
              <a:ext uri="{FF2B5EF4-FFF2-40B4-BE49-F238E27FC236}">
                <a16:creationId xmlns:a16="http://schemas.microsoft.com/office/drawing/2014/main" id="{D6E78143-AB08-CF4F-6370-8037A560E0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915C191-69AC-AB54-9EA7-3C868CE5C2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5503FB-40B8-44CC-A9CB-06163D8ED50B}" type="slidenum">
              <a:rPr lang="en-IN" smtClean="0"/>
              <a:t>‹#›</a:t>
            </a:fld>
            <a:endParaRPr lang="en-IN"/>
          </a:p>
        </p:txBody>
      </p:sp>
    </p:spTree>
    <p:extLst>
      <p:ext uri="{BB962C8B-B14F-4D97-AF65-F5344CB8AC3E}">
        <p14:creationId xmlns:p14="http://schemas.microsoft.com/office/powerpoint/2010/main" val="285329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hat Are AI Agents? A Guide to Types, Benefits, and Examples | Otter.ai">
            <a:extLst>
              <a:ext uri="{FF2B5EF4-FFF2-40B4-BE49-F238E27FC236}">
                <a16:creationId xmlns:a16="http://schemas.microsoft.com/office/drawing/2014/main" id="{6DBDFAB5-FDF5-AE0C-EF9A-40D06D404DF9}"/>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4826" b="20174"/>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0B9E714-08A3-ED6F-1558-5DAD0217845D}"/>
              </a:ext>
            </a:extLst>
          </p:cNvPr>
          <p:cNvSpPr>
            <a:spLocks noGrp="1"/>
          </p:cNvSpPr>
          <p:nvPr>
            <p:ph type="ctrTitle"/>
          </p:nvPr>
        </p:nvSpPr>
        <p:spPr>
          <a:xfrm>
            <a:off x="1524000" y="1122362"/>
            <a:ext cx="9144000" cy="2900518"/>
          </a:xfrm>
        </p:spPr>
        <p:txBody>
          <a:bodyPr>
            <a:normAutofit/>
          </a:bodyPr>
          <a:lstStyle/>
          <a:p>
            <a:r>
              <a:rPr lang="en-US">
                <a:solidFill>
                  <a:srgbClr val="FFFFFF"/>
                </a:solidFill>
              </a:rPr>
              <a:t>Evaluating our GenAI Agents</a:t>
            </a:r>
            <a:endParaRPr lang="en-IN">
              <a:solidFill>
                <a:srgbClr val="FFFFFF"/>
              </a:solidFill>
            </a:endParaRPr>
          </a:p>
        </p:txBody>
      </p:sp>
      <p:sp>
        <p:nvSpPr>
          <p:cNvPr id="3" name="Subtitle 2">
            <a:extLst>
              <a:ext uri="{FF2B5EF4-FFF2-40B4-BE49-F238E27FC236}">
                <a16:creationId xmlns:a16="http://schemas.microsoft.com/office/drawing/2014/main" id="{C300C29B-93C5-9B86-1122-F64F57327135}"/>
              </a:ext>
            </a:extLst>
          </p:cNvPr>
          <p:cNvSpPr>
            <a:spLocks noGrp="1"/>
          </p:cNvSpPr>
          <p:nvPr>
            <p:ph type="subTitle" idx="1"/>
          </p:nvPr>
        </p:nvSpPr>
        <p:spPr>
          <a:xfrm>
            <a:off x="1524000" y="4159404"/>
            <a:ext cx="9144000" cy="1098395"/>
          </a:xfrm>
        </p:spPr>
        <p:txBody>
          <a:bodyPr>
            <a:normAutofit/>
          </a:bodyPr>
          <a:lstStyle/>
          <a:p>
            <a:endParaRPr lang="en-IN">
              <a:solidFill>
                <a:srgbClr val="FFFFFF"/>
              </a:solidFill>
            </a:endParaRPr>
          </a:p>
        </p:txBody>
      </p:sp>
    </p:spTree>
    <p:extLst>
      <p:ext uri="{BB962C8B-B14F-4D97-AF65-F5344CB8AC3E}">
        <p14:creationId xmlns:p14="http://schemas.microsoft.com/office/powerpoint/2010/main" val="30685832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F90BD-45B1-1C2C-7670-6694016F6A39}"/>
              </a:ext>
            </a:extLst>
          </p:cNvPr>
          <p:cNvSpPr>
            <a:spLocks noGrp="1"/>
          </p:cNvSpPr>
          <p:nvPr>
            <p:ph type="title"/>
          </p:nvPr>
        </p:nvSpPr>
        <p:spPr>
          <a:xfrm>
            <a:off x="838200" y="-136320"/>
            <a:ext cx="10515600" cy="1325563"/>
          </a:xfrm>
        </p:spPr>
        <p:txBody>
          <a:bodyPr/>
          <a:lstStyle/>
          <a:p>
            <a:pPr algn="ctr"/>
            <a:r>
              <a:rPr lang="en-US" dirty="0"/>
              <a:t>How is GenAI Evaluation Different</a:t>
            </a:r>
            <a:endParaRPr lang="en-IN" dirty="0"/>
          </a:p>
        </p:txBody>
      </p:sp>
      <p:sp>
        <p:nvSpPr>
          <p:cNvPr id="5" name="TextBox 4">
            <a:extLst>
              <a:ext uri="{FF2B5EF4-FFF2-40B4-BE49-F238E27FC236}">
                <a16:creationId xmlns:a16="http://schemas.microsoft.com/office/drawing/2014/main" id="{BABC208F-23C5-8C12-41BA-4FB3BB816A0F}"/>
              </a:ext>
            </a:extLst>
          </p:cNvPr>
          <p:cNvSpPr txBox="1"/>
          <p:nvPr/>
        </p:nvSpPr>
        <p:spPr>
          <a:xfrm>
            <a:off x="648929" y="1888245"/>
            <a:ext cx="6096000" cy="923330"/>
          </a:xfrm>
          <a:prstGeom prst="rect">
            <a:avLst/>
          </a:prstGeom>
          <a:noFill/>
        </p:spPr>
        <p:txBody>
          <a:bodyPr wrap="square">
            <a:spAutoFit/>
          </a:bodyPr>
          <a:lstStyle/>
          <a:p>
            <a:r>
              <a:rPr lang="en-US" dirty="0"/>
              <a:t>Evaluating </a:t>
            </a:r>
            <a:r>
              <a:rPr lang="en-US" b="1" dirty="0"/>
              <a:t>Generative AI (GenAI)</a:t>
            </a:r>
            <a:r>
              <a:rPr lang="en-US" dirty="0"/>
              <a:t> models is quite different from traditional machine learning (ML) evaluation because of the nature of their outputs.</a:t>
            </a:r>
            <a:endParaRPr lang="en-IN" dirty="0"/>
          </a:p>
        </p:txBody>
      </p:sp>
      <p:sp>
        <p:nvSpPr>
          <p:cNvPr id="7" name="TextBox 6">
            <a:extLst>
              <a:ext uri="{FF2B5EF4-FFF2-40B4-BE49-F238E27FC236}">
                <a16:creationId xmlns:a16="http://schemas.microsoft.com/office/drawing/2014/main" id="{B0F3EBC9-F215-AF1D-4DBA-A6275B3870A1}"/>
              </a:ext>
            </a:extLst>
          </p:cNvPr>
          <p:cNvSpPr txBox="1"/>
          <p:nvPr/>
        </p:nvSpPr>
        <p:spPr>
          <a:xfrm>
            <a:off x="648929" y="3135245"/>
            <a:ext cx="6096000" cy="1477328"/>
          </a:xfrm>
          <a:prstGeom prst="rect">
            <a:avLst/>
          </a:prstGeom>
          <a:noFill/>
        </p:spPr>
        <p:txBody>
          <a:bodyPr wrap="square">
            <a:spAutoFit/>
          </a:bodyPr>
          <a:lstStyle/>
          <a:p>
            <a:pPr>
              <a:buNone/>
            </a:pPr>
            <a:r>
              <a:rPr lang="en-US" b="1" dirty="0"/>
              <a:t>Output Type</a:t>
            </a:r>
          </a:p>
          <a:p>
            <a:pPr>
              <a:buFont typeface="Arial" panose="020B0604020202020204" pitchFamily="34" charset="0"/>
              <a:buChar char="•"/>
            </a:pPr>
            <a:r>
              <a:rPr lang="en-US" b="1" dirty="0"/>
              <a:t>Traditional ML:</a:t>
            </a:r>
            <a:r>
              <a:rPr lang="en-US" dirty="0"/>
              <a:t> Outputs are structured (e.g., classification labels, numerical values).</a:t>
            </a:r>
          </a:p>
          <a:p>
            <a:pPr>
              <a:buFont typeface="Arial" panose="020B0604020202020204" pitchFamily="34" charset="0"/>
              <a:buChar char="•"/>
            </a:pPr>
            <a:r>
              <a:rPr lang="en-US" b="1" dirty="0"/>
              <a:t>GenAI:</a:t>
            </a:r>
            <a:r>
              <a:rPr lang="en-US" dirty="0"/>
              <a:t> Outputs are unstructured (e.g., text, images, code, or speech), making evaluation subjective</a:t>
            </a:r>
          </a:p>
        </p:txBody>
      </p:sp>
      <p:sp>
        <p:nvSpPr>
          <p:cNvPr id="9" name="TextBox 8">
            <a:extLst>
              <a:ext uri="{FF2B5EF4-FFF2-40B4-BE49-F238E27FC236}">
                <a16:creationId xmlns:a16="http://schemas.microsoft.com/office/drawing/2014/main" id="{E8752D44-DE33-FF02-6DCD-B16FC60FCD5B}"/>
              </a:ext>
            </a:extLst>
          </p:cNvPr>
          <p:cNvSpPr txBox="1"/>
          <p:nvPr/>
        </p:nvSpPr>
        <p:spPr>
          <a:xfrm>
            <a:off x="648929" y="5091865"/>
            <a:ext cx="6096000" cy="1477328"/>
          </a:xfrm>
          <a:prstGeom prst="rect">
            <a:avLst/>
          </a:prstGeom>
          <a:noFill/>
        </p:spPr>
        <p:txBody>
          <a:bodyPr wrap="square">
            <a:spAutoFit/>
          </a:bodyPr>
          <a:lstStyle/>
          <a:p>
            <a:pPr>
              <a:buNone/>
            </a:pPr>
            <a:r>
              <a:rPr lang="en-US" b="1" dirty="0"/>
              <a:t>Real-time &amp; Human-in-the-loop Evaluation</a:t>
            </a:r>
          </a:p>
          <a:p>
            <a:pPr>
              <a:buFont typeface="Arial" panose="020B0604020202020204" pitchFamily="34" charset="0"/>
              <a:buChar char="•"/>
            </a:pPr>
            <a:r>
              <a:rPr lang="en-US" b="1" dirty="0"/>
              <a:t>Traditional ML:</a:t>
            </a:r>
            <a:r>
              <a:rPr lang="en-US" dirty="0"/>
              <a:t> Can often be evaluated automatically with test datasets.</a:t>
            </a:r>
          </a:p>
          <a:p>
            <a:pPr>
              <a:buFont typeface="Arial" panose="020B0604020202020204" pitchFamily="34" charset="0"/>
              <a:buChar char="•"/>
            </a:pPr>
            <a:r>
              <a:rPr lang="en-US" b="1" dirty="0"/>
              <a:t>GenAI:</a:t>
            </a:r>
            <a:r>
              <a:rPr lang="en-US" dirty="0"/>
              <a:t> Requires </a:t>
            </a:r>
            <a:r>
              <a:rPr lang="en-US" b="1" dirty="0"/>
              <a:t>human-in-the-loop</a:t>
            </a:r>
            <a:r>
              <a:rPr lang="en-US" dirty="0"/>
              <a:t> evaluation to assess creativity, fairness, and biases</a:t>
            </a:r>
          </a:p>
        </p:txBody>
      </p:sp>
      <p:pic>
        <p:nvPicPr>
          <p:cNvPr id="1026" name="Picture 2" descr="What Is an Edge Case? Meaning and Overview | Glossary">
            <a:extLst>
              <a:ext uri="{FF2B5EF4-FFF2-40B4-BE49-F238E27FC236}">
                <a16:creationId xmlns:a16="http://schemas.microsoft.com/office/drawing/2014/main" id="{B097A182-E2EE-2716-7F24-8A6F5FC270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1535" y="1985408"/>
            <a:ext cx="4139411" cy="229967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BE4C640-0063-D2F9-70EA-14A520C7026A}"/>
              </a:ext>
            </a:extLst>
          </p:cNvPr>
          <p:cNvSpPr txBox="1"/>
          <p:nvPr/>
        </p:nvSpPr>
        <p:spPr>
          <a:xfrm>
            <a:off x="7728155" y="4739148"/>
            <a:ext cx="3716593" cy="923330"/>
          </a:xfrm>
          <a:prstGeom prst="rect">
            <a:avLst/>
          </a:prstGeom>
          <a:noFill/>
        </p:spPr>
        <p:txBody>
          <a:bodyPr wrap="square" rtlCol="0">
            <a:spAutoFit/>
          </a:bodyPr>
          <a:lstStyle/>
          <a:p>
            <a:pPr algn="ctr"/>
            <a:r>
              <a:rPr lang="en-US" dirty="0"/>
              <a:t>Evaluating GenAI apps through the traditional edge case testing isn’t the solution</a:t>
            </a:r>
            <a:endParaRPr lang="en-IN" dirty="0"/>
          </a:p>
        </p:txBody>
      </p:sp>
    </p:spTree>
    <p:extLst>
      <p:ext uri="{BB962C8B-B14F-4D97-AF65-F5344CB8AC3E}">
        <p14:creationId xmlns:p14="http://schemas.microsoft.com/office/powerpoint/2010/main" val="1641833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32BB967-6F53-543E-9790-41C976B31BA5}"/>
              </a:ext>
            </a:extLst>
          </p:cNvPr>
          <p:cNvSpPr txBox="1"/>
          <p:nvPr/>
        </p:nvSpPr>
        <p:spPr>
          <a:xfrm>
            <a:off x="363795" y="204360"/>
            <a:ext cx="4866966" cy="230832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If not designed carefully, these applications can produce outputs that are fabricated and ungrounded in context, irrelevant or incoherent, resulting in poor customer experiences, or worse, perpetuate societal stereotypes, promote misinformation, expose organizations to malicious attacks, or a wide range of other negative impacts.</a:t>
            </a:r>
            <a:endParaRPr lang="en-IN" dirty="0"/>
          </a:p>
        </p:txBody>
      </p:sp>
      <p:pic>
        <p:nvPicPr>
          <p:cNvPr id="2050" name="Picture 2" descr="Diagram of enterprise GenAIOps lifecycle, showing model selection, building an AI application, and operationalizing.">
            <a:extLst>
              <a:ext uri="{FF2B5EF4-FFF2-40B4-BE49-F238E27FC236}">
                <a16:creationId xmlns:a16="http://schemas.microsoft.com/office/drawing/2014/main" id="{A6040E01-9235-0B07-C8B6-5215D0AC7B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199" y="2889675"/>
            <a:ext cx="7246374" cy="382510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0FDF4ED-50BC-1EBC-D2A4-5B873CD74FEF}"/>
              </a:ext>
            </a:extLst>
          </p:cNvPr>
          <p:cNvSpPr txBox="1"/>
          <p:nvPr/>
        </p:nvSpPr>
        <p:spPr>
          <a:xfrm>
            <a:off x="5643716" y="381366"/>
            <a:ext cx="6096000"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Performing iterative, systematic evaluations with the right evaluators can help teams measure and address potential response quality, safety, or security concerns throughout the AI development lifecycle, from initial model selection through post-production monitoring. Evaluation within the GenAI Ops Lifecycle production.</a:t>
            </a:r>
            <a:endParaRPr lang="en-IN" dirty="0"/>
          </a:p>
        </p:txBody>
      </p:sp>
    </p:spTree>
    <p:extLst>
      <p:ext uri="{BB962C8B-B14F-4D97-AF65-F5344CB8AC3E}">
        <p14:creationId xmlns:p14="http://schemas.microsoft.com/office/powerpoint/2010/main" val="1175817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DD8F-DD8A-3C5C-4618-19BA7EBCC734}"/>
              </a:ext>
            </a:extLst>
          </p:cNvPr>
          <p:cNvSpPr>
            <a:spLocks noGrp="1"/>
          </p:cNvSpPr>
          <p:nvPr>
            <p:ph type="title"/>
          </p:nvPr>
        </p:nvSpPr>
        <p:spPr>
          <a:xfrm>
            <a:off x="1551633" y="-200967"/>
            <a:ext cx="10515600" cy="1325563"/>
          </a:xfrm>
        </p:spPr>
        <p:txBody>
          <a:bodyPr/>
          <a:lstStyle/>
          <a:p>
            <a:r>
              <a:rPr lang="en-US" dirty="0"/>
              <a:t>First Stage – Base Model Selection</a:t>
            </a:r>
            <a:endParaRPr lang="en-IN" dirty="0"/>
          </a:p>
        </p:txBody>
      </p:sp>
      <p:sp>
        <p:nvSpPr>
          <p:cNvPr id="7" name="TextBox 6">
            <a:extLst>
              <a:ext uri="{FF2B5EF4-FFF2-40B4-BE49-F238E27FC236}">
                <a16:creationId xmlns:a16="http://schemas.microsoft.com/office/drawing/2014/main" id="{27F274F7-5DA7-2865-0E96-673EEC13332B}"/>
              </a:ext>
            </a:extLst>
          </p:cNvPr>
          <p:cNvSpPr txBox="1"/>
          <p:nvPr/>
        </p:nvSpPr>
        <p:spPr>
          <a:xfrm>
            <a:off x="84574" y="1690688"/>
            <a:ext cx="6096000" cy="424731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Key considerations at this stage might include:</a:t>
            </a:r>
          </a:p>
          <a:p>
            <a:endParaRPr lang="en-US" dirty="0"/>
          </a:p>
          <a:p>
            <a:r>
              <a:rPr lang="en-US" b="1" dirty="0"/>
              <a:t>Accuracy/quality: </a:t>
            </a:r>
            <a:r>
              <a:rPr lang="en-US" dirty="0"/>
              <a:t>How well does the model generate relevant and coherent responses?</a:t>
            </a:r>
          </a:p>
          <a:p>
            <a:endParaRPr lang="en-US" dirty="0"/>
          </a:p>
          <a:p>
            <a:r>
              <a:rPr lang="en-US" b="1" dirty="0"/>
              <a:t>Performance on specific tasks: </a:t>
            </a:r>
            <a:r>
              <a:rPr lang="en-US" dirty="0"/>
              <a:t>Can the model handle the type of prompts and content required for your use case? How is its latency and cost?</a:t>
            </a:r>
          </a:p>
          <a:p>
            <a:endParaRPr lang="en-US" dirty="0"/>
          </a:p>
          <a:p>
            <a:r>
              <a:rPr lang="en-US" b="1" dirty="0"/>
              <a:t>Bias and ethical considerations</a:t>
            </a:r>
            <a:r>
              <a:rPr lang="en-US" dirty="0"/>
              <a:t>: Does the model produce any outputs that might perpetuate or promote harmful stereotypes?</a:t>
            </a:r>
          </a:p>
          <a:p>
            <a:endParaRPr lang="en-US" dirty="0"/>
          </a:p>
          <a:p>
            <a:r>
              <a:rPr lang="en-US" b="1" dirty="0"/>
              <a:t>Risk and safety: </a:t>
            </a:r>
            <a:r>
              <a:rPr lang="en-US" dirty="0"/>
              <a:t>Are there any risks of the model generating unsafe or malicious content?</a:t>
            </a:r>
            <a:endParaRPr lang="en-IN" dirty="0"/>
          </a:p>
        </p:txBody>
      </p:sp>
      <p:pic>
        <p:nvPicPr>
          <p:cNvPr id="3074" name="Picture 2" descr="Explore model benchmarks in Azure AI Foundry portal - Azure AI Foundry |  Microsoft Learn">
            <a:extLst>
              <a:ext uri="{FF2B5EF4-FFF2-40B4-BE49-F238E27FC236}">
                <a16:creationId xmlns:a16="http://schemas.microsoft.com/office/drawing/2014/main" id="{86E02B68-AC99-146A-AF05-C4977A982C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8514" y="995985"/>
            <a:ext cx="4932903" cy="28958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ow to use model benchmarking in Azure AI Foundry portal - Azure AI Foundry  | Microsoft Learn">
            <a:extLst>
              <a:ext uri="{FF2B5EF4-FFF2-40B4-BE49-F238E27FC236}">
                <a16:creationId xmlns:a16="http://schemas.microsoft.com/office/drawing/2014/main" id="{004E2D92-50D5-F3D2-B7F5-4668212002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9433" y="4097725"/>
            <a:ext cx="4328613" cy="276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8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8D138-4EC2-35FC-B9B5-DC4ACFB4E210}"/>
              </a:ext>
            </a:extLst>
          </p:cNvPr>
          <p:cNvSpPr>
            <a:spLocks noGrp="1"/>
          </p:cNvSpPr>
          <p:nvPr>
            <p:ph type="title"/>
          </p:nvPr>
        </p:nvSpPr>
        <p:spPr>
          <a:xfrm>
            <a:off x="1676400" y="-155985"/>
            <a:ext cx="10515600" cy="1325563"/>
          </a:xfrm>
        </p:spPr>
        <p:txBody>
          <a:bodyPr/>
          <a:lstStyle/>
          <a:p>
            <a:r>
              <a:rPr lang="en-US" dirty="0"/>
              <a:t>Second Stage – Pre Production Evaluation</a:t>
            </a:r>
            <a:endParaRPr lang="en-IN" dirty="0"/>
          </a:p>
        </p:txBody>
      </p:sp>
      <p:sp>
        <p:nvSpPr>
          <p:cNvPr id="7" name="TextBox 6">
            <a:extLst>
              <a:ext uri="{FF2B5EF4-FFF2-40B4-BE49-F238E27FC236}">
                <a16:creationId xmlns:a16="http://schemas.microsoft.com/office/drawing/2014/main" id="{984E31E5-AA47-730D-7899-5EED5D07AD46}"/>
              </a:ext>
            </a:extLst>
          </p:cNvPr>
          <p:cNvSpPr txBox="1"/>
          <p:nvPr/>
        </p:nvSpPr>
        <p:spPr>
          <a:xfrm>
            <a:off x="1676400" y="1169578"/>
            <a:ext cx="9222658"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After selecting a base model, the next step is to develop an AI application—such as an AI-powered chatbot, a retrieval-augmented generation (RAG) application, an agentic AI application, or any other generative AI tool. Following development, pre-production evaluation begins. Before deploying the application in a production environment, rigorous testing is essential to ensure the model is truly ready for real-world use.</a:t>
            </a:r>
            <a:endParaRPr lang="en-IN" dirty="0"/>
          </a:p>
        </p:txBody>
      </p:sp>
      <p:pic>
        <p:nvPicPr>
          <p:cNvPr id="4098" name="Picture 2" descr="Diagram of pre-production evaluation for models and applications with the six steps.">
            <a:extLst>
              <a:ext uri="{FF2B5EF4-FFF2-40B4-BE49-F238E27FC236}">
                <a16:creationId xmlns:a16="http://schemas.microsoft.com/office/drawing/2014/main" id="{3024782E-F4A1-50D4-06B9-D34BF2D37F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2796" y="2924250"/>
            <a:ext cx="7566408" cy="3631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5484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6B8FC-3A34-DBF8-42E5-0AC2F74FD94E}"/>
              </a:ext>
            </a:extLst>
          </p:cNvPr>
          <p:cNvSpPr>
            <a:spLocks noGrp="1"/>
          </p:cNvSpPr>
          <p:nvPr>
            <p:ph type="title"/>
          </p:nvPr>
        </p:nvSpPr>
        <p:spPr>
          <a:xfrm>
            <a:off x="1388807" y="-146152"/>
            <a:ext cx="10515600" cy="1325563"/>
          </a:xfrm>
        </p:spPr>
        <p:txBody>
          <a:bodyPr/>
          <a:lstStyle/>
          <a:p>
            <a:r>
              <a:rPr lang="en-US" dirty="0"/>
              <a:t>Third Stage – Post-Production Monitoring</a:t>
            </a:r>
            <a:endParaRPr lang="en-IN" dirty="0"/>
          </a:p>
        </p:txBody>
      </p:sp>
      <p:sp>
        <p:nvSpPr>
          <p:cNvPr id="9" name="TextBox 8">
            <a:extLst>
              <a:ext uri="{FF2B5EF4-FFF2-40B4-BE49-F238E27FC236}">
                <a16:creationId xmlns:a16="http://schemas.microsoft.com/office/drawing/2014/main" id="{24FA23C4-1D13-E478-27F6-C97AB1ABFFE7}"/>
              </a:ext>
            </a:extLst>
          </p:cNvPr>
          <p:cNvSpPr txBox="1"/>
          <p:nvPr/>
        </p:nvSpPr>
        <p:spPr>
          <a:xfrm>
            <a:off x="390293" y="2257410"/>
            <a:ext cx="4648620" cy="230832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t>Ongoing performance tracking</a:t>
            </a:r>
            <a:r>
              <a:rPr lang="en-US" dirty="0"/>
              <a:t>: Regularly measuring AI application’s response using key metrics to ensure consistent output quality.</a:t>
            </a:r>
          </a:p>
          <a:p>
            <a:endParaRPr lang="en-US" dirty="0"/>
          </a:p>
          <a:p>
            <a:r>
              <a:rPr lang="en-US" b="1" dirty="0"/>
              <a:t>Incident response:</a:t>
            </a:r>
            <a:r>
              <a:rPr lang="en-US" dirty="0"/>
              <a:t> Quickly responding to any harmful, unfair, or inappropriate outputs that might arise during real-world use.</a:t>
            </a:r>
            <a:endParaRPr lang="en-IN" dirty="0"/>
          </a:p>
        </p:txBody>
      </p:sp>
      <p:pic>
        <p:nvPicPr>
          <p:cNvPr id="5122" name="Picture 2" descr="Tracing in Azure AI Inference SDK - Azure AI Foundry | Microsoft Learn">
            <a:extLst>
              <a:ext uri="{FF2B5EF4-FFF2-40B4-BE49-F238E27FC236}">
                <a16:creationId xmlns:a16="http://schemas.microsoft.com/office/drawing/2014/main" id="{567770DA-69F4-38B4-59D4-DEBECF2E1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1842" y="1798696"/>
            <a:ext cx="6186841"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5946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61E52-A20F-7CB9-376D-550BDFA071F3}"/>
              </a:ext>
            </a:extLst>
          </p:cNvPr>
          <p:cNvSpPr>
            <a:spLocks noGrp="1"/>
          </p:cNvSpPr>
          <p:nvPr>
            <p:ph type="title"/>
          </p:nvPr>
        </p:nvSpPr>
        <p:spPr>
          <a:xfrm>
            <a:off x="2991464" y="-195315"/>
            <a:ext cx="10515600" cy="1325563"/>
          </a:xfrm>
        </p:spPr>
        <p:txBody>
          <a:bodyPr/>
          <a:lstStyle/>
          <a:p>
            <a:r>
              <a:rPr lang="en-US" dirty="0"/>
              <a:t>Azure AI Evaluation SDK</a:t>
            </a:r>
            <a:endParaRPr lang="en-IN" dirty="0"/>
          </a:p>
        </p:txBody>
      </p:sp>
      <p:pic>
        <p:nvPicPr>
          <p:cNvPr id="4" name="Picture 2" descr="Explore model benchmarks in Azure AI Foundry portal - Azure AI Foundry |  Microsoft Learn">
            <a:extLst>
              <a:ext uri="{FF2B5EF4-FFF2-40B4-BE49-F238E27FC236}">
                <a16:creationId xmlns:a16="http://schemas.microsoft.com/office/drawing/2014/main" id="{2D3161F4-0F68-C541-8BEF-3F5AB3F63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614" y="1962614"/>
            <a:ext cx="2927640" cy="1718665"/>
          </a:xfrm>
          <a:prstGeom prst="rect">
            <a:avLst/>
          </a:prstGeom>
          <a:noFill/>
          <a:ln>
            <a:solidFill>
              <a:schemeClr val="accent5"/>
            </a:solidFill>
          </a:ln>
          <a:extLst>
            <a:ext uri="{909E8E84-426E-40DD-AFC4-6F175D3DCCD1}">
              <a14:hiddenFill xmlns:a14="http://schemas.microsoft.com/office/drawing/2010/main">
                <a:solidFill>
                  <a:srgbClr val="FFFFFF"/>
                </a:solidFill>
              </a14:hiddenFill>
            </a:ext>
          </a:extLst>
        </p:spPr>
      </p:pic>
      <p:pic>
        <p:nvPicPr>
          <p:cNvPr id="5" name="Picture 2" descr="Diagram of pre-production evaluation for models and applications with the six steps.">
            <a:extLst>
              <a:ext uri="{FF2B5EF4-FFF2-40B4-BE49-F238E27FC236}">
                <a16:creationId xmlns:a16="http://schemas.microsoft.com/office/drawing/2014/main" id="{7C2DBE68-3B56-1A2D-A756-69230E677A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7181" y="1830080"/>
            <a:ext cx="4133223" cy="1983732"/>
          </a:xfrm>
          <a:prstGeom prst="rect">
            <a:avLst/>
          </a:prstGeom>
          <a:noFill/>
          <a:ln>
            <a:solidFill>
              <a:schemeClr val="accent5"/>
            </a:solidFill>
          </a:ln>
          <a:extLst>
            <a:ext uri="{909E8E84-426E-40DD-AFC4-6F175D3DCCD1}">
              <a14:hiddenFill xmlns:a14="http://schemas.microsoft.com/office/drawing/2010/main">
                <a:solidFill>
                  <a:srgbClr val="FFFFFF"/>
                </a:solidFill>
              </a14:hiddenFill>
            </a:ext>
          </a:extLst>
        </p:spPr>
      </p:pic>
      <p:pic>
        <p:nvPicPr>
          <p:cNvPr id="6" name="Picture 2" descr="Tracing in Azure AI Inference SDK - Azure AI Foundry | Microsoft Learn">
            <a:extLst>
              <a:ext uri="{FF2B5EF4-FFF2-40B4-BE49-F238E27FC236}">
                <a16:creationId xmlns:a16="http://schemas.microsoft.com/office/drawing/2014/main" id="{1C4D3289-FDAA-CAB9-9A2E-1CECDB7B21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1486" y="1886395"/>
            <a:ext cx="3129822" cy="1927417"/>
          </a:xfrm>
          <a:prstGeom prst="rect">
            <a:avLst/>
          </a:prstGeom>
          <a:noFill/>
          <a:ln>
            <a:solidFill>
              <a:schemeClr val="accent5"/>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D596260-BC3E-0F08-BE70-3D31D7D36737}"/>
              </a:ext>
            </a:extLst>
          </p:cNvPr>
          <p:cNvSpPr txBox="1"/>
          <p:nvPr/>
        </p:nvSpPr>
        <p:spPr>
          <a:xfrm>
            <a:off x="432619" y="3903406"/>
            <a:ext cx="3303639" cy="369332"/>
          </a:xfrm>
          <a:prstGeom prst="rect">
            <a:avLst/>
          </a:prstGeom>
          <a:noFill/>
        </p:spPr>
        <p:txBody>
          <a:bodyPr wrap="square" rtlCol="0">
            <a:spAutoFit/>
          </a:bodyPr>
          <a:lstStyle/>
          <a:p>
            <a:pPr algn="ctr"/>
            <a:r>
              <a:rPr lang="en-US" dirty="0"/>
              <a:t>Base Model Selection</a:t>
            </a:r>
            <a:endParaRPr lang="en-IN" dirty="0"/>
          </a:p>
        </p:txBody>
      </p:sp>
      <p:sp>
        <p:nvSpPr>
          <p:cNvPr id="8" name="TextBox 7">
            <a:extLst>
              <a:ext uri="{FF2B5EF4-FFF2-40B4-BE49-F238E27FC236}">
                <a16:creationId xmlns:a16="http://schemas.microsoft.com/office/drawing/2014/main" id="{36005266-0FFA-84DE-2D43-76D7EECED7CC}"/>
              </a:ext>
            </a:extLst>
          </p:cNvPr>
          <p:cNvSpPr txBox="1"/>
          <p:nvPr/>
        </p:nvSpPr>
        <p:spPr>
          <a:xfrm>
            <a:off x="4331972" y="3923692"/>
            <a:ext cx="3303639" cy="369332"/>
          </a:xfrm>
          <a:prstGeom prst="rect">
            <a:avLst/>
          </a:prstGeom>
          <a:noFill/>
        </p:spPr>
        <p:txBody>
          <a:bodyPr wrap="square" rtlCol="0">
            <a:spAutoFit/>
          </a:bodyPr>
          <a:lstStyle/>
          <a:p>
            <a:pPr algn="ctr"/>
            <a:r>
              <a:rPr lang="en-US" dirty="0"/>
              <a:t>Pre-Production Evaluation</a:t>
            </a:r>
            <a:endParaRPr lang="en-IN" dirty="0"/>
          </a:p>
        </p:txBody>
      </p:sp>
      <p:sp>
        <p:nvSpPr>
          <p:cNvPr id="9" name="TextBox 8">
            <a:extLst>
              <a:ext uri="{FF2B5EF4-FFF2-40B4-BE49-F238E27FC236}">
                <a16:creationId xmlns:a16="http://schemas.microsoft.com/office/drawing/2014/main" id="{002A1CE2-5652-B558-6BC8-54B47B23CE49}"/>
              </a:ext>
            </a:extLst>
          </p:cNvPr>
          <p:cNvSpPr txBox="1"/>
          <p:nvPr/>
        </p:nvSpPr>
        <p:spPr>
          <a:xfrm>
            <a:off x="8264577" y="3923692"/>
            <a:ext cx="3303639" cy="369332"/>
          </a:xfrm>
          <a:prstGeom prst="rect">
            <a:avLst/>
          </a:prstGeom>
          <a:noFill/>
        </p:spPr>
        <p:txBody>
          <a:bodyPr wrap="square" rtlCol="0">
            <a:spAutoFit/>
          </a:bodyPr>
          <a:lstStyle/>
          <a:p>
            <a:pPr algn="ctr"/>
            <a:r>
              <a:rPr lang="en-US" dirty="0"/>
              <a:t>Post-Deployment Evaluation</a:t>
            </a:r>
            <a:endParaRPr lang="en-IN" dirty="0"/>
          </a:p>
        </p:txBody>
      </p:sp>
      <p:sp>
        <p:nvSpPr>
          <p:cNvPr id="11" name="TextBox 10">
            <a:extLst>
              <a:ext uri="{FF2B5EF4-FFF2-40B4-BE49-F238E27FC236}">
                <a16:creationId xmlns:a16="http://schemas.microsoft.com/office/drawing/2014/main" id="{1FD70528-1141-8A77-3858-2FE785AEF5DF}"/>
              </a:ext>
            </a:extLst>
          </p:cNvPr>
          <p:cNvSpPr txBox="1"/>
          <p:nvPr/>
        </p:nvSpPr>
        <p:spPr>
          <a:xfrm>
            <a:off x="4055807" y="926166"/>
            <a:ext cx="314140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solidFill>
                  <a:schemeClr val="accent6"/>
                </a:solidFill>
              </a:rPr>
              <a:t>pip install azure-ai-evaluation</a:t>
            </a:r>
          </a:p>
        </p:txBody>
      </p:sp>
      <p:sp>
        <p:nvSpPr>
          <p:cNvPr id="20" name="TextBox 19">
            <a:extLst>
              <a:ext uri="{FF2B5EF4-FFF2-40B4-BE49-F238E27FC236}">
                <a16:creationId xmlns:a16="http://schemas.microsoft.com/office/drawing/2014/main" id="{01349403-BAF2-023B-5700-E5D9DCF1BF35}"/>
              </a:ext>
            </a:extLst>
          </p:cNvPr>
          <p:cNvSpPr txBox="1"/>
          <p:nvPr/>
        </p:nvSpPr>
        <p:spPr>
          <a:xfrm>
            <a:off x="1563330" y="4730521"/>
            <a:ext cx="9443882"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1" dirty="0"/>
              <a:t>from </a:t>
            </a:r>
            <a:r>
              <a:rPr lang="en-IN" b="1" dirty="0" err="1"/>
              <a:t>azure.ai.evaluation</a:t>
            </a:r>
            <a:r>
              <a:rPr lang="en-IN" b="1" dirty="0"/>
              <a:t> import GroundednessProEvaluator, </a:t>
            </a:r>
            <a:r>
              <a:rPr lang="en-IN" b="1" dirty="0" err="1"/>
              <a:t>GroundednessEvaluator</a:t>
            </a:r>
            <a:endParaRPr lang="en-IN" b="1" dirty="0"/>
          </a:p>
          <a:p>
            <a:endParaRPr lang="en-IN" b="1" dirty="0"/>
          </a:p>
          <a:p>
            <a:r>
              <a:rPr lang="en-IN" b="1" dirty="0">
                <a:solidFill>
                  <a:schemeClr val="accent6"/>
                </a:solidFill>
              </a:rPr>
              <a:t># </a:t>
            </a:r>
            <a:r>
              <a:rPr lang="en-IN" b="1" dirty="0" err="1">
                <a:solidFill>
                  <a:schemeClr val="accent6"/>
                </a:solidFill>
              </a:rPr>
              <a:t>Initialzing</a:t>
            </a:r>
            <a:r>
              <a:rPr lang="en-IN" b="1" dirty="0">
                <a:solidFill>
                  <a:schemeClr val="accent6"/>
                </a:solidFill>
              </a:rPr>
              <a:t> </a:t>
            </a:r>
            <a:r>
              <a:rPr lang="en-IN" b="1" dirty="0" err="1">
                <a:solidFill>
                  <a:schemeClr val="accent6"/>
                </a:solidFill>
              </a:rPr>
              <a:t>Groundedness</a:t>
            </a:r>
            <a:r>
              <a:rPr lang="en-IN" b="1" dirty="0">
                <a:solidFill>
                  <a:schemeClr val="accent6"/>
                </a:solidFill>
              </a:rPr>
              <a:t> and </a:t>
            </a:r>
            <a:r>
              <a:rPr lang="en-IN" b="1" dirty="0" err="1">
                <a:solidFill>
                  <a:schemeClr val="accent6"/>
                </a:solidFill>
              </a:rPr>
              <a:t>Groundedness</a:t>
            </a:r>
            <a:r>
              <a:rPr lang="en-IN" b="1" dirty="0">
                <a:solidFill>
                  <a:schemeClr val="accent6"/>
                </a:solidFill>
              </a:rPr>
              <a:t> Pro evaluators</a:t>
            </a:r>
          </a:p>
          <a:p>
            <a:r>
              <a:rPr lang="en-IN" b="1" dirty="0" err="1"/>
              <a:t>groundedness_eval</a:t>
            </a:r>
            <a:r>
              <a:rPr lang="en-IN" b="1" dirty="0"/>
              <a:t> = </a:t>
            </a:r>
            <a:r>
              <a:rPr lang="en-IN" b="1" dirty="0" err="1"/>
              <a:t>GroundednessEvaluator</a:t>
            </a:r>
            <a:r>
              <a:rPr lang="en-IN" b="1" dirty="0"/>
              <a:t>(</a:t>
            </a:r>
            <a:r>
              <a:rPr lang="en-IN" b="1" dirty="0" err="1"/>
              <a:t>model_config</a:t>
            </a:r>
            <a:r>
              <a:rPr lang="en-IN" b="1" dirty="0"/>
              <a:t>)</a:t>
            </a:r>
          </a:p>
          <a:p>
            <a:r>
              <a:rPr lang="en-IN" b="1" dirty="0" err="1"/>
              <a:t>groundedness_pro_eval</a:t>
            </a:r>
            <a:r>
              <a:rPr lang="en-IN" b="1" dirty="0"/>
              <a:t> = GroundednessProEvaluator(</a:t>
            </a:r>
            <a:r>
              <a:rPr lang="en-IN" b="1" dirty="0" err="1"/>
              <a:t>azure_ai_project</a:t>
            </a:r>
            <a:r>
              <a:rPr lang="en-IN" b="1" dirty="0"/>
              <a:t>=</a:t>
            </a:r>
            <a:r>
              <a:rPr lang="en-IN" b="1" dirty="0" err="1"/>
              <a:t>azure_ai_project</a:t>
            </a:r>
            <a:r>
              <a:rPr lang="en-IN" b="1" dirty="0"/>
              <a:t>, credential=credential)</a:t>
            </a:r>
          </a:p>
        </p:txBody>
      </p:sp>
    </p:spTree>
    <p:extLst>
      <p:ext uri="{BB962C8B-B14F-4D97-AF65-F5344CB8AC3E}">
        <p14:creationId xmlns:p14="http://schemas.microsoft.com/office/powerpoint/2010/main" val="4284534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498</Words>
  <Application>Microsoft Office PowerPoint</Application>
  <PresentationFormat>Widescreen</PresentationFormat>
  <Paragraphs>38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Evaluating our GenAI Agents</vt:lpstr>
      <vt:lpstr>How is GenAI Evaluation Different</vt:lpstr>
      <vt:lpstr>PowerPoint Presentation</vt:lpstr>
      <vt:lpstr>First Stage – Base Model Selection</vt:lpstr>
      <vt:lpstr>Second Stage – Pre Production Evaluation</vt:lpstr>
      <vt:lpstr>Third Stage – Post-Production Monitoring</vt:lpstr>
      <vt:lpstr>Azure AI Evaluation SDK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Prabhjot Singh Bakshi</cp:lastModifiedBy>
  <cp:revision>3</cp:revision>
  <dcterms:created xsi:type="dcterms:W3CDTF">2025-03-16T12:26:13Z</dcterms:created>
  <dcterms:modified xsi:type="dcterms:W3CDTF">2025-03-16T22:23:10Z</dcterms:modified>
</cp:coreProperties>
</file>