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54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8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440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0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61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39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30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05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5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10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3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2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31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84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18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657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92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3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81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04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29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92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26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12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23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6/15/2025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867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6/15/2025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489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6/15/2025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630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901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085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111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0050188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412517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8418784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84356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05072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3925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786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215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25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11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54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509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992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807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218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667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93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05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9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0" r:id="rId2"/>
    <p:sldLayoutId id="2147483709" r:id="rId3"/>
    <p:sldLayoutId id="2147483708" r:id="rId4"/>
    <p:sldLayoutId id="2147483707" r:id="rId5"/>
    <p:sldLayoutId id="2147483706" r:id="rId6"/>
    <p:sldLayoutId id="2147483705" r:id="rId7"/>
    <p:sldLayoutId id="2147483704" r:id="rId8"/>
    <p:sldLayoutId id="2147483703" r:id="rId9"/>
    <p:sldLayoutId id="2147483702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21CE-4D0F-0A90-062C-EF90D2227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 dirty="0"/>
              <a:t>Azure AI Foundry Local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D7732-288B-BA86-558F-8F5FD43EF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 dirty="0"/>
              <a:t>(Local LLMs for the Win!)</a:t>
            </a:r>
            <a:endParaRPr lang="en-IN" dirty="0"/>
          </a:p>
        </p:txBody>
      </p:sp>
      <p:pic>
        <p:nvPicPr>
          <p:cNvPr id="1026" name="Picture 2" descr="Unlock Instant On-Device AI with Foundry Local | Azure AI Foundry Blog">
            <a:extLst>
              <a:ext uri="{FF2B5EF4-FFF2-40B4-BE49-F238E27FC236}">
                <a16:creationId xmlns:a16="http://schemas.microsoft.com/office/drawing/2014/main" id="{696FF33F-BE1D-C72F-7AC1-B127AB272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42" r="2" b="2"/>
          <a:stretch>
            <a:fillRect/>
          </a:stretch>
        </p:blipFill>
        <p:spPr bwMode="auto"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944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 of Foundry Local Architecture.">
            <a:extLst>
              <a:ext uri="{FF2B5EF4-FFF2-40B4-BE49-F238E27FC236}">
                <a16:creationId xmlns:a16="http://schemas.microsoft.com/office/drawing/2014/main" id="{DA0787AD-D5FC-451A-B70E-CF348E54DB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486" y="59076"/>
            <a:ext cx="9488153" cy="470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A3B8A-8C42-1A05-FF6D-63FE7F920C5D}"/>
              </a:ext>
            </a:extLst>
          </p:cNvPr>
          <p:cNvSpPr txBox="1"/>
          <p:nvPr/>
        </p:nvSpPr>
        <p:spPr>
          <a:xfrm>
            <a:off x="583059" y="5202998"/>
            <a:ext cx="6097712" cy="147732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UI" panose="020B0502040204020203" pitchFamily="34" charset="0"/>
              </a:rPr>
              <a:t>The Foundry Local Service includes an OpenAI-compatible REST server that provides a standard interface for working with the inference engine. It's also possible to manage models over REST. Developers use this API to send requests, run models, and get results programmatically.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DEF1A-A184-F356-70ED-D1C9A3E422E9}"/>
              </a:ext>
            </a:extLst>
          </p:cNvPr>
          <p:cNvSpPr txBox="1"/>
          <p:nvPr/>
        </p:nvSpPr>
        <p:spPr>
          <a:xfrm>
            <a:off x="7117422" y="5313311"/>
            <a:ext cx="4697002" cy="92333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UI" panose="020B0502040204020203" pitchFamily="34" charset="0"/>
              </a:rPr>
              <a:t>Foundry Local enables efficient, secure, and scalable AI model inference directly on your devices.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44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iagram of Foundry Local Architecture.">
            <a:extLst>
              <a:ext uri="{FF2B5EF4-FFF2-40B4-BE49-F238E27FC236}">
                <a16:creationId xmlns:a16="http://schemas.microsoft.com/office/drawing/2014/main" id="{90874B2C-F378-9A0C-7AA8-0DB90BF0F6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959" y="1536807"/>
            <a:ext cx="8322394" cy="412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A45ED1-36B9-1E53-D0D6-191B23A73C6B}"/>
              </a:ext>
            </a:extLst>
          </p:cNvPr>
          <p:cNvSpPr txBox="1"/>
          <p:nvPr/>
        </p:nvSpPr>
        <p:spPr>
          <a:xfrm>
            <a:off x="226031" y="303548"/>
            <a:ext cx="2989780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Compatibility with OpenAI SDK and </a:t>
            </a:r>
            <a:r>
              <a:rPr lang="en-US" sz="1600" dirty="0" err="1"/>
              <a:t>langchain</a:t>
            </a:r>
            <a:r>
              <a:rPr lang="en-US" sz="1600" dirty="0"/>
              <a:t> to build local Agents</a:t>
            </a:r>
            <a:endParaRPr lang="en-IN" sz="1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DB0104-9791-3CA0-571A-89757AC6E5C7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1720921" y="1134545"/>
            <a:ext cx="1443519" cy="920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5ADC45-CAD8-CAE7-6BF1-E0554FB47F7F}"/>
              </a:ext>
            </a:extLst>
          </p:cNvPr>
          <p:cNvSpPr txBox="1"/>
          <p:nvPr/>
        </p:nvSpPr>
        <p:spPr>
          <a:xfrm>
            <a:off x="8608031" y="303548"/>
            <a:ext cx="2989780" cy="584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Download via the terminal (CMD) and interact locally!</a:t>
            </a:r>
            <a:endParaRPr lang="en-IN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774757-550D-AA9E-76AF-910321EB5394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454740" y="888323"/>
            <a:ext cx="3648181" cy="1043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B2E6C2-D7B3-D8CF-033A-BF4EAC5DA0E8}"/>
              </a:ext>
            </a:extLst>
          </p:cNvPr>
          <p:cNvSpPr txBox="1"/>
          <p:nvPr/>
        </p:nvSpPr>
        <p:spPr>
          <a:xfrm>
            <a:off x="8945365" y="5665288"/>
            <a:ext cx="2989780" cy="107721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Run models available in the Foundry Catalog offline like phi-3.5-mini, mistral, phi-4-mini</a:t>
            </a:r>
            <a:endParaRPr lang="en-IN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ABEF14-59BA-B432-817E-CB812A16A47C}"/>
              </a:ext>
            </a:extLst>
          </p:cNvPr>
          <p:cNvCxnSpPr>
            <a:endCxn id="12" idx="0"/>
          </p:cNvCxnSpPr>
          <p:nvPr/>
        </p:nvCxnSpPr>
        <p:spPr>
          <a:xfrm>
            <a:off x="9719353" y="4202130"/>
            <a:ext cx="720902" cy="146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6672570-4B3D-9675-60DF-09E3E4217F9F}"/>
              </a:ext>
            </a:extLst>
          </p:cNvPr>
          <p:cNvSpPr txBox="1"/>
          <p:nvPr/>
        </p:nvSpPr>
        <p:spPr>
          <a:xfrm>
            <a:off x="3508196" y="271694"/>
            <a:ext cx="4770634" cy="584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Make API calls to localhost:5273/v1/chat/completions endpoint</a:t>
            </a:r>
            <a:endParaRPr lang="en-IN" sz="1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39B142-9D9D-C7B0-04C7-BCE81085A4CC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5167901" y="856469"/>
            <a:ext cx="725612" cy="119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242C29E-C70E-DF64-BF21-B78AB1D05D3E}"/>
              </a:ext>
            </a:extLst>
          </p:cNvPr>
          <p:cNvSpPr txBox="1"/>
          <p:nvPr/>
        </p:nvSpPr>
        <p:spPr>
          <a:xfrm>
            <a:off x="2776591" y="5715840"/>
            <a:ext cx="4335695" cy="107721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Segoe UI" panose="020B0502040204020203" pitchFamily="34" charset="0"/>
              </a:rPr>
              <a:t>The ONNX Runtime is a core component that executes AI models. It runs optimized ONNX models efficiently on local hardware like CPUs, GPUs, or NPUs.</a:t>
            </a:r>
            <a:endParaRPr lang="en-IN" sz="1600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079A1C3-6B00-A04E-9A63-284B4EED27B5}"/>
              </a:ext>
            </a:extLst>
          </p:cNvPr>
          <p:cNvCxnSpPr/>
          <p:nvPr/>
        </p:nvCxnSpPr>
        <p:spPr>
          <a:xfrm>
            <a:off x="3508196" y="5465852"/>
            <a:ext cx="1125449" cy="25760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F60FD9A-F292-B2A9-D8B4-C85B93E4BDD4}"/>
              </a:ext>
            </a:extLst>
          </p:cNvPr>
          <p:cNvCxnSpPr/>
          <p:nvPr/>
        </p:nvCxnSpPr>
        <p:spPr>
          <a:xfrm rot="5400000">
            <a:off x="4615994" y="5574899"/>
            <a:ext cx="208892" cy="7299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2DA742D-13DC-D4E8-4983-BC35DF2D2587}"/>
              </a:ext>
            </a:extLst>
          </p:cNvPr>
          <p:cNvCxnSpPr/>
          <p:nvPr/>
        </p:nvCxnSpPr>
        <p:spPr>
          <a:xfrm rot="10800000" flipV="1">
            <a:off x="4699198" y="5465852"/>
            <a:ext cx="1396802" cy="2499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7BD5A8C-C6FA-51AA-5DED-6A1243E113D4}"/>
              </a:ext>
            </a:extLst>
          </p:cNvPr>
          <p:cNvSpPr txBox="1"/>
          <p:nvPr/>
        </p:nvSpPr>
        <p:spPr>
          <a:xfrm>
            <a:off x="8676905" y="1871040"/>
            <a:ext cx="252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5B6196-271B-1E62-0F13-A65B8D6A1EC2}"/>
              </a:ext>
            </a:extLst>
          </p:cNvPr>
          <p:cNvSpPr txBox="1"/>
          <p:nvPr/>
        </p:nvSpPr>
        <p:spPr>
          <a:xfrm>
            <a:off x="8676906" y="1675291"/>
            <a:ext cx="3160106" cy="15696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In Foundry Local, ONNX Runtime is the backbone of inferencing — it takes the compiled model and executes it efficiently on local hardware.</a:t>
            </a:r>
          </a:p>
          <a:p>
            <a:pPr algn="ctr"/>
            <a:endParaRPr lang="en-IN" sz="16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67B4C9-D544-9A61-5E05-1AF93450845F}"/>
              </a:ext>
            </a:extLst>
          </p:cNvPr>
          <p:cNvCxnSpPr/>
          <p:nvPr/>
        </p:nvCxnSpPr>
        <p:spPr>
          <a:xfrm flipV="1">
            <a:off x="7931649" y="2517169"/>
            <a:ext cx="676382" cy="1027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162AED8-AEB9-8EDF-38D6-734836B9E2E9}"/>
              </a:ext>
            </a:extLst>
          </p:cNvPr>
          <p:cNvSpPr txBox="1"/>
          <p:nvPr/>
        </p:nvSpPr>
        <p:spPr>
          <a:xfrm>
            <a:off x="226031" y="3047968"/>
            <a:ext cx="1986766" cy="230832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Segoe UI" panose="020B0502040204020203" pitchFamily="34" charset="0"/>
              </a:rPr>
              <a:t>The model cache stores downloaded AI models locally on your device, which ensures models are ready for inference without needing to download them repeatedly.</a:t>
            </a:r>
            <a:endParaRPr lang="en-IN" sz="16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F147415-3EF7-275B-B123-2D5EE9840CB9}"/>
              </a:ext>
            </a:extLst>
          </p:cNvPr>
          <p:cNvCxnSpPr>
            <a:cxnSpLocks/>
          </p:cNvCxnSpPr>
          <p:nvPr/>
        </p:nvCxnSpPr>
        <p:spPr>
          <a:xfrm flipH="1" flipV="1">
            <a:off x="2154363" y="4089115"/>
            <a:ext cx="845691" cy="47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65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D0F9-DA37-D432-2E80-64A3B4CD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CA85-15D4-D8CB-F0DC-E70DF4993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0652760" cy="2667274"/>
          </a:xfrm>
        </p:spPr>
        <p:txBody>
          <a:bodyPr/>
          <a:lstStyle/>
          <a:p>
            <a:r>
              <a:rPr lang="en-IN" b="1" dirty="0"/>
              <a:t>Operating System</a:t>
            </a:r>
            <a:r>
              <a:rPr lang="en-IN" dirty="0"/>
              <a:t>: Windows 10 (x64), Windows 11 (x64/ARM), Windows Server 2025, macOS.</a:t>
            </a:r>
          </a:p>
          <a:p>
            <a:r>
              <a:rPr lang="en-IN" b="1" dirty="0"/>
              <a:t>Hardware</a:t>
            </a:r>
            <a:r>
              <a:rPr lang="en-IN" dirty="0"/>
              <a:t>: Minimum 8GB RAM, 3GB free disk space. Recommended 16GB RAM, 15GB free disk space.</a:t>
            </a:r>
          </a:p>
          <a:p>
            <a:r>
              <a:rPr lang="en-IN" b="1" dirty="0"/>
              <a:t>Network</a:t>
            </a:r>
            <a:r>
              <a:rPr lang="en-IN" dirty="0"/>
              <a:t>: Internet connection for initial model download (optional for offline use)</a:t>
            </a:r>
          </a:p>
          <a:p>
            <a:r>
              <a:rPr lang="en-IN" b="1" dirty="0"/>
              <a:t>Acceleration (optional)</a:t>
            </a:r>
            <a:r>
              <a:rPr lang="en-IN" dirty="0"/>
              <a:t>: NVIDIA GPU (2,000 series or newer), AMD GPU (6,000 series or newer), Qualcomm Snapdragon X Elite (8GB or more of memory), or Apple silicon.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7661E-CE61-FBDB-C1AC-42484288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77" y="3921458"/>
            <a:ext cx="6654229" cy="2825179"/>
          </a:xfrm>
          <a:prstGeom prst="rect">
            <a:avLst/>
          </a:prstGeom>
        </p:spPr>
      </p:pic>
      <p:pic>
        <p:nvPicPr>
          <p:cNvPr id="4098" name="Picture 2" descr="ASUS Zenbook Duo Laptop, Dual 14” OLED 3K 120Hz Touch Display, Intel Evo  Certified, Intel Core">
            <a:extLst>
              <a:ext uri="{FF2B5EF4-FFF2-40B4-BE49-F238E27FC236}">
                <a16:creationId xmlns:a16="http://schemas.microsoft.com/office/drawing/2014/main" id="{733B5927-D392-8D50-F651-4073DC8D9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195" y="3996549"/>
            <a:ext cx="2822106" cy="282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42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06F3-0870-2530-99A3-F4793814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Means a lot of things……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48DF-0F97-7BE6-D9A1-52FCD6A42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Low Latency</a:t>
            </a:r>
            <a:r>
              <a:rPr lang="en-US" dirty="0"/>
              <a:t>: Run models locally to minimize processing time and deliver faster results.</a:t>
            </a:r>
          </a:p>
          <a:p>
            <a:r>
              <a:rPr lang="en-US" b="1" dirty="0"/>
              <a:t>Data Privacy</a:t>
            </a:r>
            <a:r>
              <a:rPr lang="en-US" dirty="0"/>
              <a:t>: Process sensitive data locally without sending it to the cloud, helping meet data protection requirements.</a:t>
            </a:r>
          </a:p>
          <a:p>
            <a:r>
              <a:rPr lang="en-US" b="1" dirty="0"/>
              <a:t>Flexibility</a:t>
            </a:r>
            <a:r>
              <a:rPr lang="en-US" dirty="0"/>
              <a:t>: Support for diverse hardware configurations lets you choose the optimal setup for your needs.</a:t>
            </a:r>
          </a:p>
          <a:p>
            <a:r>
              <a:rPr lang="en-US" b="1" dirty="0"/>
              <a:t>Scalability</a:t>
            </a:r>
            <a:r>
              <a:rPr lang="en-US" dirty="0"/>
              <a:t>: Deploy across various devices, from laptops to servers, to suit different use cases.</a:t>
            </a:r>
          </a:p>
          <a:p>
            <a:r>
              <a:rPr lang="en-US" b="1" dirty="0"/>
              <a:t>Cost-Effectiveness</a:t>
            </a:r>
            <a:r>
              <a:rPr lang="en-US" dirty="0"/>
              <a:t>: Reduce cloud computing costs, especially for high-volume applications.</a:t>
            </a:r>
          </a:p>
          <a:p>
            <a:r>
              <a:rPr lang="en-US" b="1" dirty="0"/>
              <a:t>Offline Operation</a:t>
            </a:r>
            <a:r>
              <a:rPr lang="en-US" dirty="0"/>
              <a:t>: Work without an internet connection in remote or disconnected environments.</a:t>
            </a:r>
          </a:p>
          <a:p>
            <a:r>
              <a:rPr lang="en-US" b="1" dirty="0"/>
              <a:t>Seamless Integration</a:t>
            </a:r>
            <a:r>
              <a:rPr lang="en-US" dirty="0"/>
              <a:t>: Easily incorporate into existing development workflows for smooth adoption.</a:t>
            </a:r>
          </a:p>
        </p:txBody>
      </p:sp>
    </p:spTree>
    <p:extLst>
      <p:ext uri="{BB962C8B-B14F-4D97-AF65-F5344CB8AC3E}">
        <p14:creationId xmlns:p14="http://schemas.microsoft.com/office/powerpoint/2010/main" val="405255701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411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Neue Haas Grotesk Text Pro</vt:lpstr>
      <vt:lpstr>Segoe UI</vt:lpstr>
      <vt:lpstr>Dune</vt:lpstr>
      <vt:lpstr>Azure AI Foundry Local</vt:lpstr>
      <vt:lpstr>PowerPoint Presentation</vt:lpstr>
      <vt:lpstr>PowerPoint Presentation</vt:lpstr>
      <vt:lpstr>Hardware Prerequisites</vt:lpstr>
      <vt:lpstr>This Means a lot of things……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bakshi</dc:creator>
  <cp:lastModifiedBy>kuljot bakshi</cp:lastModifiedBy>
  <cp:revision>1</cp:revision>
  <dcterms:created xsi:type="dcterms:W3CDTF">2025-06-15T09:29:55Z</dcterms:created>
  <dcterms:modified xsi:type="dcterms:W3CDTF">2025-06-15T09:52:17Z</dcterms:modified>
</cp:coreProperties>
</file>