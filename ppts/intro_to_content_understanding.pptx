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17F667-FEA3-48DD-AA9E-0E649E388E81}" v="8" dt="2025-09-24T19:01:01.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jot bakshi" userId="e18f591f5991c12c" providerId="LiveId" clId="{848BE52E-FEF7-44CF-B8AB-7264220E5FAA}"/>
    <pc:docChg chg="undo custSel addSld modSld">
      <pc:chgData name="kuljot bakshi" userId="e18f591f5991c12c" providerId="LiveId" clId="{848BE52E-FEF7-44CF-B8AB-7264220E5FAA}" dt="2025-09-24T19:01:01.583" v="139"/>
      <pc:docMkLst>
        <pc:docMk/>
      </pc:docMkLst>
      <pc:sldChg chg="addSp delSp modSp new mod">
        <pc:chgData name="kuljot bakshi" userId="e18f591f5991c12c" providerId="LiveId" clId="{848BE52E-FEF7-44CF-B8AB-7264220E5FAA}" dt="2025-09-24T18:55:08.191" v="51" actId="1076"/>
        <pc:sldMkLst>
          <pc:docMk/>
          <pc:sldMk cId="4013418442" sldId="260"/>
        </pc:sldMkLst>
        <pc:spChg chg="mod">
          <ac:chgData name="kuljot bakshi" userId="e18f591f5991c12c" providerId="LiveId" clId="{848BE52E-FEF7-44CF-B8AB-7264220E5FAA}" dt="2025-09-24T18:54:03.159" v="21" actId="1076"/>
          <ac:spMkLst>
            <pc:docMk/>
            <pc:sldMk cId="4013418442" sldId="260"/>
            <ac:spMk id="2" creationId="{7170C129-4428-38FB-DC86-47523308EEEC}"/>
          </ac:spMkLst>
        </pc:spChg>
        <pc:spChg chg="del">
          <ac:chgData name="kuljot bakshi" userId="e18f591f5991c12c" providerId="LiveId" clId="{848BE52E-FEF7-44CF-B8AB-7264220E5FAA}" dt="2025-09-24T18:53:25.053" v="12" actId="22"/>
          <ac:spMkLst>
            <pc:docMk/>
            <pc:sldMk cId="4013418442" sldId="260"/>
            <ac:spMk id="3" creationId="{AF5FE3EE-1954-2906-5E31-F77F72F60158}"/>
          </ac:spMkLst>
        </pc:spChg>
        <pc:picChg chg="add mod ord">
          <ac:chgData name="kuljot bakshi" userId="e18f591f5991c12c" providerId="LiveId" clId="{848BE52E-FEF7-44CF-B8AB-7264220E5FAA}" dt="2025-09-24T18:55:06.952" v="50" actId="1076"/>
          <ac:picMkLst>
            <pc:docMk/>
            <pc:sldMk cId="4013418442" sldId="260"/>
            <ac:picMk id="5" creationId="{6DE215F2-5D9B-A3AE-58EC-7F4C11EFC349}"/>
          </ac:picMkLst>
        </pc:picChg>
        <pc:picChg chg="add mod">
          <ac:chgData name="kuljot bakshi" userId="e18f591f5991c12c" providerId="LiveId" clId="{848BE52E-FEF7-44CF-B8AB-7264220E5FAA}" dt="2025-09-24T18:55:08.191" v="51" actId="1076"/>
          <ac:picMkLst>
            <pc:docMk/>
            <pc:sldMk cId="4013418442" sldId="260"/>
            <ac:picMk id="7" creationId="{E939544D-752A-F368-B8E2-D43A9BC7B818}"/>
          </ac:picMkLst>
        </pc:picChg>
        <pc:picChg chg="add del mod">
          <ac:chgData name="kuljot bakshi" userId="e18f591f5991c12c" providerId="LiveId" clId="{848BE52E-FEF7-44CF-B8AB-7264220E5FAA}" dt="2025-09-24T18:54:52.471" v="40" actId="478"/>
          <ac:picMkLst>
            <pc:docMk/>
            <pc:sldMk cId="4013418442" sldId="260"/>
            <ac:picMk id="9" creationId="{D9D63A5C-C0EC-9127-1035-8AFBCAF56C85}"/>
          </ac:picMkLst>
        </pc:picChg>
        <pc:picChg chg="add del mod">
          <ac:chgData name="kuljot bakshi" userId="e18f591f5991c12c" providerId="LiveId" clId="{848BE52E-FEF7-44CF-B8AB-7264220E5FAA}" dt="2025-09-24T18:54:52.995" v="41" actId="478"/>
          <ac:picMkLst>
            <pc:docMk/>
            <pc:sldMk cId="4013418442" sldId="260"/>
            <ac:picMk id="11" creationId="{3B5EFE3E-803C-1C76-6069-D2B718B7563A}"/>
          </ac:picMkLst>
        </pc:picChg>
      </pc:sldChg>
      <pc:sldChg chg="addSp delSp modSp new mod">
        <pc:chgData name="kuljot bakshi" userId="e18f591f5991c12c" providerId="LiveId" clId="{848BE52E-FEF7-44CF-B8AB-7264220E5FAA}" dt="2025-09-24T18:54:50.487" v="39" actId="1076"/>
        <pc:sldMkLst>
          <pc:docMk/>
          <pc:sldMk cId="3236158862" sldId="261"/>
        </pc:sldMkLst>
        <pc:spChg chg="del">
          <ac:chgData name="kuljot bakshi" userId="e18f591f5991c12c" providerId="LiveId" clId="{848BE52E-FEF7-44CF-B8AB-7264220E5FAA}" dt="2025-09-24T18:54:41.020" v="34" actId="478"/>
          <ac:spMkLst>
            <pc:docMk/>
            <pc:sldMk cId="3236158862" sldId="261"/>
            <ac:spMk id="2" creationId="{F47EB0EF-4996-9DFE-CB06-5CDDDE67A283}"/>
          </ac:spMkLst>
        </pc:spChg>
        <pc:spChg chg="del">
          <ac:chgData name="kuljot bakshi" userId="e18f591f5991c12c" providerId="LiveId" clId="{848BE52E-FEF7-44CF-B8AB-7264220E5FAA}" dt="2025-09-24T18:54:39.387" v="33"/>
          <ac:spMkLst>
            <pc:docMk/>
            <pc:sldMk cId="3236158862" sldId="261"/>
            <ac:spMk id="3" creationId="{1046CF14-D99E-3A02-C5FA-11BFB658863F}"/>
          </ac:spMkLst>
        </pc:spChg>
        <pc:picChg chg="add mod">
          <ac:chgData name="kuljot bakshi" userId="e18f591f5991c12c" providerId="LiveId" clId="{848BE52E-FEF7-44CF-B8AB-7264220E5FAA}" dt="2025-09-24T18:54:42.471" v="35" actId="1076"/>
          <ac:picMkLst>
            <pc:docMk/>
            <pc:sldMk cId="3236158862" sldId="261"/>
            <ac:picMk id="4" creationId="{1901CF8E-B9BF-0F40-6BD3-B30E6DEFF278}"/>
          </ac:picMkLst>
        </pc:picChg>
        <pc:picChg chg="add mod">
          <ac:chgData name="kuljot bakshi" userId="e18f591f5991c12c" providerId="LiveId" clId="{848BE52E-FEF7-44CF-B8AB-7264220E5FAA}" dt="2025-09-24T18:54:50.487" v="39" actId="1076"/>
          <ac:picMkLst>
            <pc:docMk/>
            <pc:sldMk cId="3236158862" sldId="261"/>
            <ac:picMk id="5" creationId="{C4722A91-286B-BB55-51E6-5350A74E4392}"/>
          </ac:picMkLst>
        </pc:picChg>
      </pc:sldChg>
      <pc:sldChg chg="addSp delSp modSp new mod">
        <pc:chgData name="kuljot bakshi" userId="e18f591f5991c12c" providerId="LiveId" clId="{848BE52E-FEF7-44CF-B8AB-7264220E5FAA}" dt="2025-09-24T18:59:57.956" v="111" actId="1582"/>
        <pc:sldMkLst>
          <pc:docMk/>
          <pc:sldMk cId="1930693335" sldId="262"/>
        </pc:sldMkLst>
        <pc:spChg chg="mod">
          <ac:chgData name="kuljot bakshi" userId="e18f591f5991c12c" providerId="LiveId" clId="{848BE52E-FEF7-44CF-B8AB-7264220E5FAA}" dt="2025-09-24T18:57:31.736" v="90" actId="1076"/>
          <ac:spMkLst>
            <pc:docMk/>
            <pc:sldMk cId="1930693335" sldId="262"/>
            <ac:spMk id="2" creationId="{E6EFDA60-0608-9789-29AB-20F8C44B83EB}"/>
          </ac:spMkLst>
        </pc:spChg>
        <pc:spChg chg="del">
          <ac:chgData name="kuljot bakshi" userId="e18f591f5991c12c" providerId="LiveId" clId="{848BE52E-FEF7-44CF-B8AB-7264220E5FAA}" dt="2025-09-24T18:57:34.526" v="91" actId="478"/>
          <ac:spMkLst>
            <pc:docMk/>
            <pc:sldMk cId="1930693335" sldId="262"/>
            <ac:spMk id="3" creationId="{96F86566-56DF-6AC5-C21C-F5240E5A449C}"/>
          </ac:spMkLst>
        </pc:spChg>
        <pc:spChg chg="add mod">
          <ac:chgData name="kuljot bakshi" userId="e18f591f5991c12c" providerId="LiveId" clId="{848BE52E-FEF7-44CF-B8AB-7264220E5FAA}" dt="2025-09-24T18:59:34.158" v="106" actId="1076"/>
          <ac:spMkLst>
            <pc:docMk/>
            <pc:sldMk cId="1930693335" sldId="262"/>
            <ac:spMk id="5" creationId="{E5A9C48B-FFAF-7734-5263-A37D68B96473}"/>
          </ac:spMkLst>
        </pc:spChg>
        <pc:spChg chg="add mod">
          <ac:chgData name="kuljot bakshi" userId="e18f591f5991c12c" providerId="LiveId" clId="{848BE52E-FEF7-44CF-B8AB-7264220E5FAA}" dt="2025-09-24T18:59:37.424" v="107" actId="1076"/>
          <ac:spMkLst>
            <pc:docMk/>
            <pc:sldMk cId="1930693335" sldId="262"/>
            <ac:spMk id="7" creationId="{14B5E896-E250-75EE-DD60-FEB4180C6661}"/>
          </ac:spMkLst>
        </pc:spChg>
        <pc:cxnChg chg="add mod">
          <ac:chgData name="kuljot bakshi" userId="e18f591f5991c12c" providerId="LiveId" clId="{848BE52E-FEF7-44CF-B8AB-7264220E5FAA}" dt="2025-09-24T18:59:57.956" v="111" actId="1582"/>
          <ac:cxnSpMkLst>
            <pc:docMk/>
            <pc:sldMk cId="1930693335" sldId="262"/>
            <ac:cxnSpMk id="9" creationId="{8376FEE4-3DDB-4CC2-8F19-016E70DA2667}"/>
          </ac:cxnSpMkLst>
        </pc:cxnChg>
      </pc:sldChg>
      <pc:sldChg chg="addSp delSp modSp new mod">
        <pc:chgData name="kuljot bakshi" userId="e18f591f5991c12c" providerId="LiveId" clId="{848BE52E-FEF7-44CF-B8AB-7264220E5FAA}" dt="2025-09-24T19:01:01.583" v="139"/>
        <pc:sldMkLst>
          <pc:docMk/>
          <pc:sldMk cId="3595356168" sldId="263"/>
        </pc:sldMkLst>
        <pc:spChg chg="mod">
          <ac:chgData name="kuljot bakshi" userId="e18f591f5991c12c" providerId="LiveId" clId="{848BE52E-FEF7-44CF-B8AB-7264220E5FAA}" dt="2025-09-24T19:00:19.853" v="122" actId="1076"/>
          <ac:spMkLst>
            <pc:docMk/>
            <pc:sldMk cId="3595356168" sldId="263"/>
            <ac:spMk id="2" creationId="{DCF9F12D-ECF5-48BA-AB32-9D0D9BD5A2A5}"/>
          </ac:spMkLst>
        </pc:spChg>
        <pc:spChg chg="del mod">
          <ac:chgData name="kuljot bakshi" userId="e18f591f5991c12c" providerId="LiveId" clId="{848BE52E-FEF7-44CF-B8AB-7264220E5FAA}" dt="2025-09-24T19:00:29.298" v="127" actId="478"/>
          <ac:spMkLst>
            <pc:docMk/>
            <pc:sldMk cId="3595356168" sldId="263"/>
            <ac:spMk id="3" creationId="{08CF2946-72E3-2AE8-B979-80234A8D0389}"/>
          </ac:spMkLst>
        </pc:spChg>
        <pc:spChg chg="add mod">
          <ac:chgData name="kuljot bakshi" userId="e18f591f5991c12c" providerId="LiveId" clId="{848BE52E-FEF7-44CF-B8AB-7264220E5FAA}" dt="2025-09-24T19:00:37.646" v="132" actId="20577"/>
          <ac:spMkLst>
            <pc:docMk/>
            <pc:sldMk cId="3595356168" sldId="263"/>
            <ac:spMk id="5" creationId="{126ACCB9-A768-9779-4710-47E147B8A826}"/>
          </ac:spMkLst>
        </pc:spChg>
        <pc:spChg chg="add mod">
          <ac:chgData name="kuljot bakshi" userId="e18f591f5991c12c" providerId="LiveId" clId="{848BE52E-FEF7-44CF-B8AB-7264220E5FAA}" dt="2025-09-24T19:00:55.231" v="138" actId="1076"/>
          <ac:spMkLst>
            <pc:docMk/>
            <pc:sldMk cId="3595356168" sldId="263"/>
            <ac:spMk id="7" creationId="{2D63E020-58A2-EBAA-D525-224C5ED3A01D}"/>
          </ac:spMkLst>
        </pc:spChg>
        <pc:cxnChg chg="add mod">
          <ac:chgData name="kuljot bakshi" userId="e18f591f5991c12c" providerId="LiveId" clId="{848BE52E-FEF7-44CF-B8AB-7264220E5FAA}" dt="2025-09-24T19:01:01.583" v="139"/>
          <ac:cxnSpMkLst>
            <pc:docMk/>
            <pc:sldMk cId="3595356168" sldId="263"/>
            <ac:cxnSpMk id="8" creationId="{1A5C0ACF-ADE0-7AC2-5F85-E2F9200E866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2ED7-772C-A410-8BB5-E0D3E4E5CA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AE8CD7A-544D-DBA1-E733-772F23B319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46881CE-F924-22AC-33B7-2ACE6D45B413}"/>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5" name="Footer Placeholder 4">
            <a:extLst>
              <a:ext uri="{FF2B5EF4-FFF2-40B4-BE49-F238E27FC236}">
                <a16:creationId xmlns:a16="http://schemas.microsoft.com/office/drawing/2014/main" id="{2E957D6E-D853-FB63-4775-38076354FA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7052FA-06D6-33B5-9381-1D36C334EB30}"/>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2564413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3E7A-D651-CF0E-447C-883DEEC648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563B6B-B390-0EB1-ED00-22C6047610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7BFA8-63FE-6CC7-C8F1-3E813A7A2A8D}"/>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5" name="Footer Placeholder 4">
            <a:extLst>
              <a:ext uri="{FF2B5EF4-FFF2-40B4-BE49-F238E27FC236}">
                <a16:creationId xmlns:a16="http://schemas.microsoft.com/office/drawing/2014/main" id="{0EE80039-F1A3-EE62-AD85-4DD60C7CE4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11F885-FFDC-40A4-EC9E-7B6591AADEE3}"/>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3008465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3103-B1E4-EC54-E41C-CEC689B6D1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DA898C-B0D7-40A6-9C38-BCC56F3929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9A4FE1-07F0-8896-ABA1-B1C875B75562}"/>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5" name="Footer Placeholder 4">
            <a:extLst>
              <a:ext uri="{FF2B5EF4-FFF2-40B4-BE49-F238E27FC236}">
                <a16:creationId xmlns:a16="http://schemas.microsoft.com/office/drawing/2014/main" id="{C75A0E50-3CEC-E197-0CC2-F19919CBB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DD21EF-8F03-45F7-35B6-6D463DE733C0}"/>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2885748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1936B-9848-5D80-4BF6-F0625E4095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6C0084-0C22-FC09-980C-373E3C5B48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8D9BC2-C8F1-1238-30C1-A7E074FEBC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040D4D-5133-5BB3-5F4C-D361E96A638C}"/>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6" name="Footer Placeholder 5">
            <a:extLst>
              <a:ext uri="{FF2B5EF4-FFF2-40B4-BE49-F238E27FC236}">
                <a16:creationId xmlns:a16="http://schemas.microsoft.com/office/drawing/2014/main" id="{C33DEB1F-3C40-4B86-0C45-0A893899C6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CF470B-0161-FE24-31F0-89ACCE65304A}"/>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2139219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9679A-4AF9-393E-ECB4-DBE4472C3B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69B0C4-F002-27B8-C55E-6126E21205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FDDEA4-9220-25AF-5963-A3BEB76BB2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D73245-A54E-B0C8-B31B-37DBF5F46D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5008AF-1025-945A-5308-87869DC8B6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2645BC-9F94-52A0-B1C2-1C534DEE7CEC}"/>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8" name="Footer Placeholder 7">
            <a:extLst>
              <a:ext uri="{FF2B5EF4-FFF2-40B4-BE49-F238E27FC236}">
                <a16:creationId xmlns:a16="http://schemas.microsoft.com/office/drawing/2014/main" id="{B1A445E7-615F-C2C8-92A4-D68336F150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A0F1B6-30D3-3F8D-C4C3-D17086CC7EA6}"/>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1532096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DFFA3-41CE-92D7-8C4B-B8657D1095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A09B23-CFF7-BB15-4FAD-27D361AB6C86}"/>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4" name="Footer Placeholder 3">
            <a:extLst>
              <a:ext uri="{FF2B5EF4-FFF2-40B4-BE49-F238E27FC236}">
                <a16:creationId xmlns:a16="http://schemas.microsoft.com/office/drawing/2014/main" id="{00DD9EA2-D2F4-BB0E-4210-EB94565CD6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7FB71F-57A4-6909-2279-3F155298327A}"/>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1452139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2CEB1-C4FF-EB5C-9BC5-4A7738FB547F}"/>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3" name="Footer Placeholder 2">
            <a:extLst>
              <a:ext uri="{FF2B5EF4-FFF2-40B4-BE49-F238E27FC236}">
                <a16:creationId xmlns:a16="http://schemas.microsoft.com/office/drawing/2014/main" id="{8C544045-BE6C-1417-826B-0903F26E157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7145568-634B-4082-36DF-AFC5A2205987}"/>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1443362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02CE-5B51-8B09-D6F3-D03E7EB34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3EE245-9617-207A-6689-AB13E2C54E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635ED9-109B-EC48-CBB7-7F6A94050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35208-4BC6-F7B2-26EE-86F6C7E85498}"/>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6" name="Footer Placeholder 5">
            <a:extLst>
              <a:ext uri="{FF2B5EF4-FFF2-40B4-BE49-F238E27FC236}">
                <a16:creationId xmlns:a16="http://schemas.microsoft.com/office/drawing/2014/main" id="{4525E5DE-06F8-0788-3A05-2337860E20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D3EC0F-3EDE-F6CE-CF6A-C41BD7144EE7}"/>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3732724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5B66-8063-B4A3-D760-E3605AC397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FE114D-3062-03F2-7A5E-F8AE82A029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90D5BA-39AA-4003-2E6F-4F683CC04E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FD5272-E9C3-38B8-2AA0-55DF3EF6A738}"/>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6" name="Footer Placeholder 5">
            <a:extLst>
              <a:ext uri="{FF2B5EF4-FFF2-40B4-BE49-F238E27FC236}">
                <a16:creationId xmlns:a16="http://schemas.microsoft.com/office/drawing/2014/main" id="{857929BF-C22E-1969-351A-C640B83606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45DD0F-0D78-E917-5321-50580323D48B}"/>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3710575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06200-6D3E-5683-48A5-ADF03ED8C1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5B1640-F4D8-A034-21A9-65EFE4A2DE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2EAA61-0FB0-9E06-AD35-86535A1E1561}"/>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5" name="Footer Placeholder 4">
            <a:extLst>
              <a:ext uri="{FF2B5EF4-FFF2-40B4-BE49-F238E27FC236}">
                <a16:creationId xmlns:a16="http://schemas.microsoft.com/office/drawing/2014/main" id="{0A73BBF5-459D-6991-357F-D208A4B8E5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CDCDD5-E188-B15B-A4D5-EFE75307FE00}"/>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2381259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38A845-E6DF-2439-C02E-6336E74D2B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D8A9D5-FB51-EB2D-A536-E9FB5993A8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49807E-CD53-0D6E-EC2C-894C3C37E45E}"/>
              </a:ext>
            </a:extLst>
          </p:cNvPr>
          <p:cNvSpPr>
            <a:spLocks noGrp="1"/>
          </p:cNvSpPr>
          <p:nvPr>
            <p:ph type="dt" sz="half" idx="10"/>
          </p:nvPr>
        </p:nvSpPr>
        <p:spPr/>
        <p:txBody>
          <a:bodyPr/>
          <a:lstStyle/>
          <a:p>
            <a:fld id="{04A21871-E3D9-4FC2-98F4-D185BE036EC5}" type="datetimeFigureOut">
              <a:rPr lang="en-IN" smtClean="0"/>
              <a:t>24-09-2025</a:t>
            </a:fld>
            <a:endParaRPr lang="en-IN"/>
          </a:p>
        </p:txBody>
      </p:sp>
      <p:sp>
        <p:nvSpPr>
          <p:cNvPr id="5" name="Footer Placeholder 4">
            <a:extLst>
              <a:ext uri="{FF2B5EF4-FFF2-40B4-BE49-F238E27FC236}">
                <a16:creationId xmlns:a16="http://schemas.microsoft.com/office/drawing/2014/main" id="{EF5ACD2F-76BF-DC56-BBB5-D3371C9E07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8EB69B-EF90-1785-749F-7C23173936FC}"/>
              </a:ext>
            </a:extLst>
          </p:cNvPr>
          <p:cNvSpPr>
            <a:spLocks noGrp="1"/>
          </p:cNvSpPr>
          <p:nvPr>
            <p:ph type="sldNum" sz="quarter" idx="12"/>
          </p:nvPr>
        </p:nvSpPr>
        <p:spPr/>
        <p:txBody>
          <a:bodyPr/>
          <a:lstStyle/>
          <a:p>
            <a:fld id="{7CDF8FBF-8BE0-4CFA-9443-E4332FFCDA65}" type="slidenum">
              <a:rPr lang="en-IN" smtClean="0"/>
              <a:t>‹#›</a:t>
            </a:fld>
            <a:endParaRPr lang="en-IN"/>
          </a:p>
        </p:txBody>
      </p:sp>
    </p:spTree>
    <p:extLst>
      <p:ext uri="{BB962C8B-B14F-4D97-AF65-F5344CB8AC3E}">
        <p14:creationId xmlns:p14="http://schemas.microsoft.com/office/powerpoint/2010/main" val="4200151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CB435D-687D-92D7-8683-9DF30FCA2D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F50080-B40C-B730-0308-67FC394C5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59C319-9A2A-FB18-E7EE-C49E35D011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A21871-E3D9-4FC2-98F4-D185BE036EC5}" type="datetimeFigureOut">
              <a:rPr lang="en-IN" smtClean="0"/>
              <a:t>24-09-2025</a:t>
            </a:fld>
            <a:endParaRPr lang="en-IN"/>
          </a:p>
        </p:txBody>
      </p:sp>
      <p:sp>
        <p:nvSpPr>
          <p:cNvPr id="5" name="Footer Placeholder 4">
            <a:extLst>
              <a:ext uri="{FF2B5EF4-FFF2-40B4-BE49-F238E27FC236}">
                <a16:creationId xmlns:a16="http://schemas.microsoft.com/office/drawing/2014/main" id="{7D203BA9-2396-8A85-2F38-AF957BCCE4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E384010-46A3-45B9-D1D3-8FCF73CC8C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DF8FBF-8BE0-4CFA-9443-E4332FFCDA65}" type="slidenum">
              <a:rPr lang="en-IN" smtClean="0"/>
              <a:t>‹#›</a:t>
            </a:fld>
            <a:endParaRPr lang="en-IN"/>
          </a:p>
        </p:txBody>
      </p:sp>
    </p:spTree>
    <p:extLst>
      <p:ext uri="{BB962C8B-B14F-4D97-AF65-F5344CB8AC3E}">
        <p14:creationId xmlns:p14="http://schemas.microsoft.com/office/powerpoint/2010/main" val="1257537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6A6B3B-6ED9-75F6-0E3E-A6D2EC962C5B}"/>
              </a:ext>
            </a:extLst>
          </p:cNvPr>
          <p:cNvSpPr>
            <a:spLocks noGrp="1"/>
          </p:cNvSpPr>
          <p:nvPr>
            <p:ph type="ctrTitle"/>
          </p:nvPr>
        </p:nvSpPr>
        <p:spPr>
          <a:xfrm>
            <a:off x="640080" y="320040"/>
            <a:ext cx="6692827" cy="3892669"/>
          </a:xfrm>
        </p:spPr>
        <p:txBody>
          <a:bodyPr>
            <a:normAutofit/>
          </a:bodyPr>
          <a:lstStyle/>
          <a:p>
            <a:pPr algn="l"/>
            <a:r>
              <a:rPr lang="en-US" sz="6600"/>
              <a:t>Azure AI Content Understanding</a:t>
            </a:r>
            <a:endParaRPr lang="en-IN" sz="6600"/>
          </a:p>
        </p:txBody>
      </p:sp>
      <p:sp>
        <p:nvSpPr>
          <p:cNvPr id="10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hat's New for Developers: Tools and Features | Azure AI Foundry Blog">
            <a:extLst>
              <a:ext uri="{FF2B5EF4-FFF2-40B4-BE49-F238E27FC236}">
                <a16:creationId xmlns:a16="http://schemas.microsoft.com/office/drawing/2014/main" id="{A7E49D2F-AAAE-A0C3-D023-5E267FE8E5B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81544" y="1267079"/>
            <a:ext cx="4087368" cy="4087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183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A776-66D8-0A05-5BA1-30F248A90095}"/>
              </a:ext>
            </a:extLst>
          </p:cNvPr>
          <p:cNvSpPr>
            <a:spLocks noGrp="1"/>
          </p:cNvSpPr>
          <p:nvPr>
            <p:ph type="title"/>
          </p:nvPr>
        </p:nvSpPr>
        <p:spPr>
          <a:xfrm>
            <a:off x="423809" y="-400692"/>
            <a:ext cx="11768191" cy="1325563"/>
          </a:xfrm>
        </p:spPr>
        <p:txBody>
          <a:bodyPr>
            <a:normAutofit/>
          </a:bodyPr>
          <a:lstStyle/>
          <a:p>
            <a:r>
              <a:rPr lang="en-US" sz="3200" dirty="0"/>
              <a:t>📖 Scenario: Retail Company Using Azure AI Content Understanding</a:t>
            </a:r>
            <a:endParaRPr lang="en-IN" sz="3200" dirty="0"/>
          </a:p>
        </p:txBody>
      </p:sp>
      <p:sp>
        <p:nvSpPr>
          <p:cNvPr id="3" name="Content Placeholder 2">
            <a:extLst>
              <a:ext uri="{FF2B5EF4-FFF2-40B4-BE49-F238E27FC236}">
                <a16:creationId xmlns:a16="http://schemas.microsoft.com/office/drawing/2014/main" id="{C1521F78-3288-187E-9ACD-57AB18E12E24}"/>
              </a:ext>
            </a:extLst>
          </p:cNvPr>
          <p:cNvSpPr>
            <a:spLocks noGrp="1"/>
          </p:cNvSpPr>
          <p:nvPr>
            <p:ph idx="1"/>
          </p:nvPr>
        </p:nvSpPr>
        <p:spPr>
          <a:xfrm>
            <a:off x="252574" y="511681"/>
            <a:ext cx="8141414" cy="3493329"/>
          </a:xfrm>
        </p:spPr>
        <p:style>
          <a:lnRef idx="2">
            <a:schemeClr val="accent5"/>
          </a:lnRef>
          <a:fillRef idx="1">
            <a:schemeClr val="lt1"/>
          </a:fillRef>
          <a:effectRef idx="0">
            <a:schemeClr val="accent5"/>
          </a:effectRef>
          <a:fontRef idx="minor">
            <a:schemeClr val="dk1"/>
          </a:fontRef>
        </p:style>
        <p:txBody>
          <a:bodyPr>
            <a:normAutofit/>
          </a:bodyPr>
          <a:lstStyle/>
          <a:p>
            <a:r>
              <a:rPr lang="en-US" sz="1800" b="1" dirty="0"/>
              <a:t>📖 Scenario: Retail Company Using Azure AI Content Understanding</a:t>
            </a:r>
          </a:p>
          <a:p>
            <a:r>
              <a:rPr lang="en-US" sz="1800" dirty="0"/>
              <a:t>Imagine you are working with </a:t>
            </a:r>
            <a:r>
              <a:rPr lang="en-US" sz="1800" b="1" dirty="0" err="1"/>
              <a:t>EcoMart</a:t>
            </a:r>
            <a:r>
              <a:rPr lang="en-US" sz="1800" dirty="0"/>
              <a:t>, a large retail chain that receives tons of unstructured content every day:</a:t>
            </a:r>
          </a:p>
          <a:p>
            <a:r>
              <a:rPr lang="en-US" sz="1800" b="1" dirty="0"/>
              <a:t>Product Catalogs (PDFs)</a:t>
            </a:r>
            <a:r>
              <a:rPr lang="en-US" sz="1800" dirty="0"/>
              <a:t> from suppliers</a:t>
            </a:r>
          </a:p>
          <a:p>
            <a:r>
              <a:rPr lang="en-US" sz="1800" b="1" dirty="0"/>
              <a:t>Social Media Posts (Images + Text)</a:t>
            </a:r>
            <a:r>
              <a:rPr lang="en-US" sz="1800" dirty="0"/>
              <a:t> about new store launches</a:t>
            </a:r>
          </a:p>
          <a:p>
            <a:r>
              <a:rPr lang="en-US" sz="1800" b="1" dirty="0"/>
              <a:t>Customer Support Chats (Text)</a:t>
            </a:r>
            <a:r>
              <a:rPr lang="en-US" sz="1800" dirty="0"/>
              <a:t> with feedback and complaints</a:t>
            </a:r>
          </a:p>
          <a:p>
            <a:r>
              <a:rPr lang="en-US" sz="1800" b="1" dirty="0"/>
              <a:t>In-store CCTV Snaps (Images)</a:t>
            </a:r>
            <a:r>
              <a:rPr lang="en-US" sz="1800" dirty="0"/>
              <a:t> showing customer engagement with new displays</a:t>
            </a:r>
          </a:p>
          <a:p>
            <a:r>
              <a:rPr lang="en-US" sz="1800" dirty="0"/>
              <a:t>The challenge? All of this content is </a:t>
            </a:r>
            <a:r>
              <a:rPr lang="en-US" sz="1800" b="1" dirty="0"/>
              <a:t>unstructured</a:t>
            </a:r>
            <a:r>
              <a:rPr lang="en-US" sz="1800" dirty="0"/>
              <a:t> and stored in different formats, making it very hard to analyze and derive insights.</a:t>
            </a:r>
          </a:p>
          <a:p>
            <a:endParaRPr lang="en-IN" sz="1800" dirty="0"/>
          </a:p>
        </p:txBody>
      </p:sp>
      <p:sp>
        <p:nvSpPr>
          <p:cNvPr id="7" name="TextBox 6">
            <a:extLst>
              <a:ext uri="{FF2B5EF4-FFF2-40B4-BE49-F238E27FC236}">
                <a16:creationId xmlns:a16="http://schemas.microsoft.com/office/drawing/2014/main" id="{2A735D4D-DEF8-D253-D399-EE5AA6444AAA}"/>
              </a:ext>
            </a:extLst>
          </p:cNvPr>
          <p:cNvSpPr txBox="1"/>
          <p:nvPr/>
        </p:nvSpPr>
        <p:spPr>
          <a:xfrm>
            <a:off x="192212" y="4089018"/>
            <a:ext cx="8262137" cy="25853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IN" dirty="0"/>
              <a:t>💡 </a:t>
            </a:r>
            <a:r>
              <a:rPr lang="en-IN" b="1" dirty="0"/>
              <a:t>Solution with Azure AI Content Understanding</a:t>
            </a:r>
            <a:r>
              <a:rPr lang="en-IN" dirty="0"/>
              <a:t>:</a:t>
            </a:r>
            <a:br>
              <a:rPr lang="en-IN" dirty="0"/>
            </a:br>
            <a:r>
              <a:rPr lang="en-IN" dirty="0" err="1"/>
              <a:t>EcoMart</a:t>
            </a:r>
            <a:r>
              <a:rPr lang="en-IN" dirty="0"/>
              <a:t> uses the </a:t>
            </a:r>
            <a:r>
              <a:rPr lang="en-IN" b="1" dirty="0"/>
              <a:t>pre-built </a:t>
            </a:r>
            <a:r>
              <a:rPr lang="en-IN" b="1" dirty="0" err="1"/>
              <a:t>analyzers</a:t>
            </a:r>
            <a:r>
              <a:rPr lang="en-IN" dirty="0"/>
              <a:t>:</a:t>
            </a:r>
          </a:p>
          <a:p>
            <a:pPr>
              <a:buFont typeface="+mj-lt"/>
              <a:buAutoNum type="arabicPeriod"/>
            </a:pPr>
            <a:r>
              <a:rPr lang="en-IN" b="1" dirty="0"/>
              <a:t>Text Analyzer</a:t>
            </a:r>
            <a:r>
              <a:rPr lang="en-IN" dirty="0"/>
              <a:t> → Extracts topics &amp; key phrases from support chats.</a:t>
            </a:r>
          </a:p>
          <a:p>
            <a:pPr>
              <a:buFont typeface="+mj-lt"/>
              <a:buAutoNum type="arabicPeriod"/>
            </a:pPr>
            <a:r>
              <a:rPr lang="en-IN" b="1" dirty="0"/>
              <a:t>Image Analyzer</a:t>
            </a:r>
            <a:r>
              <a:rPr lang="en-IN" dirty="0"/>
              <a:t> → Detects logos, products, and even customer emotions in photos.</a:t>
            </a:r>
          </a:p>
          <a:p>
            <a:pPr>
              <a:buFont typeface="+mj-lt"/>
              <a:buAutoNum type="arabicPeriod"/>
            </a:pPr>
            <a:r>
              <a:rPr lang="en-IN" b="1" dirty="0"/>
              <a:t>Video Analyzer</a:t>
            </a:r>
            <a:r>
              <a:rPr lang="en-IN" dirty="0"/>
              <a:t> → Summarizes CCTV footage into highlights like “Peak footfall at 5:30 PM.”</a:t>
            </a:r>
          </a:p>
          <a:p>
            <a:pPr>
              <a:buFont typeface="+mj-lt"/>
              <a:buAutoNum type="arabicPeriod"/>
            </a:pPr>
            <a:r>
              <a:rPr lang="en-IN" b="1" dirty="0"/>
              <a:t>Multi-modal RAG</a:t>
            </a:r>
            <a:r>
              <a:rPr lang="en-IN" dirty="0"/>
              <a:t> → Combines product </a:t>
            </a:r>
            <a:r>
              <a:rPr lang="en-IN" dirty="0" err="1"/>
              <a:t>catalog</a:t>
            </a:r>
            <a:r>
              <a:rPr lang="en-IN" dirty="0"/>
              <a:t> PDFs, customer reviews, and images into a single knowledge base.</a:t>
            </a:r>
          </a:p>
        </p:txBody>
      </p:sp>
      <p:pic>
        <p:nvPicPr>
          <p:cNvPr id="2050" name="Picture 2" descr="Multimodal data processing with Azure AI Content Understanding | Microsoft  Learn">
            <a:extLst>
              <a:ext uri="{FF2B5EF4-FFF2-40B4-BE49-F238E27FC236}">
                <a16:creationId xmlns:a16="http://schemas.microsoft.com/office/drawing/2014/main" id="{077E577D-A03F-567E-2EED-88EF4DD75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6779" y="1083218"/>
            <a:ext cx="3512647" cy="197586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zure AI Content Understanding: Comprehensive Guide and Reference -  capracode.com">
            <a:extLst>
              <a:ext uri="{FF2B5EF4-FFF2-40B4-BE49-F238E27FC236}">
                <a16:creationId xmlns:a16="http://schemas.microsoft.com/office/drawing/2014/main" id="{692DCA4C-5D4E-1B33-C758-429BC8C227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1604" y="4089018"/>
            <a:ext cx="3242995" cy="2086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947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Screenshot of Content Understanding pro components.">
            <a:extLst>
              <a:ext uri="{FF2B5EF4-FFF2-40B4-BE49-F238E27FC236}">
                <a16:creationId xmlns:a16="http://schemas.microsoft.com/office/drawing/2014/main" id="{35B42B62-ED48-DAC4-3925-7F73EFE6134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8121" y="1914847"/>
            <a:ext cx="7986388" cy="358311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C6EBAAD-C5D0-BC83-D6DB-0968B3111013}"/>
              </a:ext>
            </a:extLst>
          </p:cNvPr>
          <p:cNvSpPr txBox="1"/>
          <p:nvPr/>
        </p:nvSpPr>
        <p:spPr>
          <a:xfrm>
            <a:off x="3197404" y="82193"/>
            <a:ext cx="6351998" cy="107721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b="1" dirty="0"/>
              <a:t>Analyzer:</a:t>
            </a:r>
            <a:r>
              <a:rPr lang="en-US" sz="1600" dirty="0"/>
              <a:t> The analyzer is the core component of Content Understanding. It allows customers to configure content extraction settings and field extraction schema. Once configured, the analyzer consistently applies these settings to process all incoming data.</a:t>
            </a:r>
            <a:endParaRPr lang="en-IN" sz="1600" dirty="0"/>
          </a:p>
        </p:txBody>
      </p:sp>
      <p:sp>
        <p:nvSpPr>
          <p:cNvPr id="9" name="Left Brace 8">
            <a:extLst>
              <a:ext uri="{FF2B5EF4-FFF2-40B4-BE49-F238E27FC236}">
                <a16:creationId xmlns:a16="http://schemas.microsoft.com/office/drawing/2014/main" id="{6A202B14-0ECF-5028-003A-59957D513184}"/>
              </a:ext>
            </a:extLst>
          </p:cNvPr>
          <p:cNvSpPr/>
          <p:nvPr/>
        </p:nvSpPr>
        <p:spPr>
          <a:xfrm rot="5400000">
            <a:off x="5313343" y="89294"/>
            <a:ext cx="1116673" cy="3256907"/>
          </a:xfrm>
          <a:prstGeom prst="leftBrace">
            <a:avLst/>
          </a:pr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IN"/>
          </a:p>
        </p:txBody>
      </p:sp>
      <p:sp>
        <p:nvSpPr>
          <p:cNvPr id="16" name="TextBox 15">
            <a:extLst>
              <a:ext uri="{FF2B5EF4-FFF2-40B4-BE49-F238E27FC236}">
                <a16:creationId xmlns:a16="http://schemas.microsoft.com/office/drawing/2014/main" id="{47DFB872-886D-9E18-CBDF-04016E7C9413}"/>
              </a:ext>
            </a:extLst>
          </p:cNvPr>
          <p:cNvSpPr txBox="1"/>
          <p:nvPr/>
        </p:nvSpPr>
        <p:spPr>
          <a:xfrm>
            <a:off x="270581" y="5698589"/>
            <a:ext cx="5421302"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b="1" dirty="0"/>
              <a:t>Content Extraction: </a:t>
            </a:r>
            <a:r>
              <a:rPr lang="en-US" sz="1400" dirty="0"/>
              <a:t>With content extraction, you specify the types of information to identify and extract from incoming content. This approach lets you focus on extracting the most relevant information for your needs.</a:t>
            </a:r>
            <a:endParaRPr lang="en-IN" sz="1400" dirty="0"/>
          </a:p>
        </p:txBody>
      </p:sp>
      <p:sp>
        <p:nvSpPr>
          <p:cNvPr id="17" name="TextBox 16">
            <a:extLst>
              <a:ext uri="{FF2B5EF4-FFF2-40B4-BE49-F238E27FC236}">
                <a16:creationId xmlns:a16="http://schemas.microsoft.com/office/drawing/2014/main" id="{4F55330C-1B34-D960-5E34-37ADB4762C2A}"/>
              </a:ext>
            </a:extLst>
          </p:cNvPr>
          <p:cNvSpPr txBox="1"/>
          <p:nvPr/>
        </p:nvSpPr>
        <p:spPr>
          <a:xfrm>
            <a:off x="6954725" y="5776339"/>
            <a:ext cx="3345950"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b="1" dirty="0"/>
              <a:t>Field Extraction</a:t>
            </a:r>
            <a:r>
              <a:rPr lang="en-US" sz="1400" dirty="0"/>
              <a:t>: Field extraction allows users to define the structure and schema of the desired fields to extract from input files.</a:t>
            </a:r>
            <a:endParaRPr lang="en-IN" sz="1400" dirty="0"/>
          </a:p>
        </p:txBody>
      </p:sp>
      <p:cxnSp>
        <p:nvCxnSpPr>
          <p:cNvPr id="19" name="Straight Arrow Connector 18">
            <a:extLst>
              <a:ext uri="{FF2B5EF4-FFF2-40B4-BE49-F238E27FC236}">
                <a16:creationId xmlns:a16="http://schemas.microsoft.com/office/drawing/2014/main" id="{6B5C8A9D-6CE2-F856-1CD5-90765658BA5A}"/>
              </a:ext>
            </a:extLst>
          </p:cNvPr>
          <p:cNvCxnSpPr>
            <a:endCxn id="16" idx="0"/>
          </p:cNvCxnSpPr>
          <p:nvPr/>
        </p:nvCxnSpPr>
        <p:spPr>
          <a:xfrm flipH="1">
            <a:off x="2981232" y="4633645"/>
            <a:ext cx="1559946" cy="1064944"/>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20" name="Straight Arrow Connector 19">
            <a:extLst>
              <a:ext uri="{FF2B5EF4-FFF2-40B4-BE49-F238E27FC236}">
                <a16:creationId xmlns:a16="http://schemas.microsoft.com/office/drawing/2014/main" id="{AD0D5B87-558A-F3A6-2D0F-49354CA449E4}"/>
              </a:ext>
            </a:extLst>
          </p:cNvPr>
          <p:cNvCxnSpPr>
            <a:cxnSpLocks/>
            <a:endCxn id="17" idx="0"/>
          </p:cNvCxnSpPr>
          <p:nvPr/>
        </p:nvCxnSpPr>
        <p:spPr>
          <a:xfrm>
            <a:off x="7048072" y="4633645"/>
            <a:ext cx="1579628" cy="1142694"/>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519788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4A291-B83E-D1A9-EFE9-2FFB1D9103B8}"/>
              </a:ext>
            </a:extLst>
          </p:cNvPr>
          <p:cNvSpPr>
            <a:spLocks noGrp="1"/>
          </p:cNvSpPr>
          <p:nvPr>
            <p:ph type="title"/>
          </p:nvPr>
        </p:nvSpPr>
        <p:spPr>
          <a:xfrm>
            <a:off x="992313" y="-199954"/>
            <a:ext cx="10515600" cy="1325563"/>
          </a:xfrm>
        </p:spPr>
        <p:txBody>
          <a:bodyPr/>
          <a:lstStyle/>
          <a:p>
            <a:r>
              <a:rPr lang="en-US" dirty="0"/>
              <a:t>Extra Add-Ons: Classifier and Face Detection</a:t>
            </a:r>
            <a:endParaRPr lang="en-IN" dirty="0"/>
          </a:p>
        </p:txBody>
      </p:sp>
      <p:sp>
        <p:nvSpPr>
          <p:cNvPr id="9" name="TextBox 8">
            <a:extLst>
              <a:ext uri="{FF2B5EF4-FFF2-40B4-BE49-F238E27FC236}">
                <a16:creationId xmlns:a16="http://schemas.microsoft.com/office/drawing/2014/main" id="{0CDEB87E-B1ED-6B26-91CD-3A0188E389C9}"/>
              </a:ext>
            </a:extLst>
          </p:cNvPr>
          <p:cNvSpPr txBox="1"/>
          <p:nvPr/>
        </p:nvSpPr>
        <p:spPr>
          <a:xfrm>
            <a:off x="449494" y="1520562"/>
            <a:ext cx="6444466"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Classifier:</a:t>
            </a:r>
            <a:r>
              <a:rPr lang="en-US" dirty="0"/>
              <a:t> You can use the Azure AI Content Understanding classifier to detect and identify documents that you process within your application. The Content Understanding classifier can perform classification of an input file as a whole. It can also identify multiple documents or multiple instances of a single document within an input file.</a:t>
            </a:r>
            <a:endParaRPr lang="en-IN" dirty="0"/>
          </a:p>
        </p:txBody>
      </p:sp>
      <p:pic>
        <p:nvPicPr>
          <p:cNvPr id="4098" name="Picture 2" descr="Custom text classification - Azure AI services | Microsoft Learn">
            <a:extLst>
              <a:ext uri="{FF2B5EF4-FFF2-40B4-BE49-F238E27FC236}">
                <a16:creationId xmlns:a16="http://schemas.microsoft.com/office/drawing/2014/main" id="{2FD6F5B3-EF4E-D8BE-9227-25CBA9EFA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0721" y="1520562"/>
            <a:ext cx="4694802" cy="163034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Diagram illustrating the flow of the person directory.">
            <a:extLst>
              <a:ext uri="{FF2B5EF4-FFF2-40B4-BE49-F238E27FC236}">
                <a16:creationId xmlns:a16="http://schemas.microsoft.com/office/drawing/2014/main" id="{7CB451F2-437E-DC25-4D8E-2E27E123E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894" y="3916608"/>
            <a:ext cx="5113106" cy="25365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35FB02C-53A3-C7A5-E0B7-F8C8FA2E8B66}"/>
              </a:ext>
            </a:extLst>
          </p:cNvPr>
          <p:cNvSpPr txBox="1"/>
          <p:nvPr/>
        </p:nvSpPr>
        <p:spPr>
          <a:xfrm>
            <a:off x="449494" y="4460275"/>
            <a:ext cx="6444466"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t>Face Detection: </a:t>
            </a:r>
            <a:r>
              <a:rPr lang="en-US" dirty="0"/>
              <a:t>Azure AI Content Understanding provides a cloud-based solution for face detection, enrollment, and recognition, enabling secure and intelligent applications. Developers can apply these capabilities to detect faces, organize them into a structured directory, and perform recognition tasks for identity verification and content management.</a:t>
            </a:r>
            <a:endParaRPr lang="en-IN" dirty="0"/>
          </a:p>
        </p:txBody>
      </p:sp>
    </p:spTree>
    <p:extLst>
      <p:ext uri="{BB962C8B-B14F-4D97-AF65-F5344CB8AC3E}">
        <p14:creationId xmlns:p14="http://schemas.microsoft.com/office/powerpoint/2010/main" val="1133137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FDA60-0608-9789-29AB-20F8C44B83EB}"/>
              </a:ext>
            </a:extLst>
          </p:cNvPr>
          <p:cNvSpPr>
            <a:spLocks noGrp="1"/>
          </p:cNvSpPr>
          <p:nvPr>
            <p:ph type="title"/>
          </p:nvPr>
        </p:nvSpPr>
        <p:spPr>
          <a:xfrm>
            <a:off x="838200" y="-117760"/>
            <a:ext cx="10515600" cy="1325563"/>
          </a:xfrm>
        </p:spPr>
        <p:txBody>
          <a:bodyPr/>
          <a:lstStyle/>
          <a:p>
            <a:pPr algn="ctr"/>
            <a:r>
              <a:rPr lang="en-US" dirty="0"/>
              <a:t>Pro v/s Standard Modes</a:t>
            </a:r>
            <a:endParaRPr lang="en-IN" dirty="0"/>
          </a:p>
        </p:txBody>
      </p:sp>
      <p:sp>
        <p:nvSpPr>
          <p:cNvPr id="5" name="TextBox 4">
            <a:extLst>
              <a:ext uri="{FF2B5EF4-FFF2-40B4-BE49-F238E27FC236}">
                <a16:creationId xmlns:a16="http://schemas.microsoft.com/office/drawing/2014/main" id="{E5A9C48B-FFAF-7734-5263-A37D68B96473}"/>
              </a:ext>
            </a:extLst>
          </p:cNvPr>
          <p:cNvSpPr txBox="1"/>
          <p:nvPr/>
        </p:nvSpPr>
        <p:spPr>
          <a:xfrm>
            <a:off x="137847" y="1383959"/>
            <a:ext cx="6097712" cy="3693319"/>
          </a:xfrm>
          <a:prstGeom prst="rect">
            <a:avLst/>
          </a:prstGeom>
          <a:noFill/>
        </p:spPr>
        <p:txBody>
          <a:bodyPr wrap="square">
            <a:spAutoFit/>
          </a:bodyPr>
          <a:lstStyle/>
          <a:p>
            <a:pPr>
              <a:buNone/>
            </a:pPr>
            <a:r>
              <a:rPr lang="en-US" b="1" dirty="0"/>
              <a:t>👩‍💻 Standard Mode = Efficient Assistant</a:t>
            </a:r>
          </a:p>
          <a:p>
            <a:pPr>
              <a:buFont typeface="Arial" panose="020B0604020202020204" pitchFamily="34" charset="0"/>
              <a:buChar char="•"/>
            </a:pPr>
            <a:r>
              <a:rPr lang="en-US" dirty="0"/>
              <a:t>Imagine you hire a research assistant.</a:t>
            </a:r>
          </a:p>
          <a:p>
            <a:pPr>
              <a:buFont typeface="Arial" panose="020B0604020202020204" pitchFamily="34" charset="0"/>
              <a:buChar char="•"/>
            </a:pPr>
            <a:endParaRPr lang="en-US" dirty="0"/>
          </a:p>
          <a:p>
            <a:pPr>
              <a:buFont typeface="Arial" panose="020B0604020202020204" pitchFamily="34" charset="0"/>
              <a:buChar char="•"/>
            </a:pPr>
            <a:r>
              <a:rPr lang="en-US" dirty="0"/>
              <a:t>You tell them: </a:t>
            </a:r>
            <a:r>
              <a:rPr lang="en-US" i="1" dirty="0"/>
              <a:t>“Go through these files (docs, images, videos, audio) and pull out structured notes into my template.”</a:t>
            </a:r>
          </a:p>
          <a:p>
            <a:pPr>
              <a:buFont typeface="Arial" panose="020B0604020202020204" pitchFamily="34" charset="0"/>
              <a:buChar char="•"/>
            </a:pPr>
            <a:endParaRPr lang="en-US" dirty="0"/>
          </a:p>
          <a:p>
            <a:pPr>
              <a:buFont typeface="Arial" panose="020B0604020202020204" pitchFamily="34" charset="0"/>
              <a:buChar char="•"/>
            </a:pPr>
            <a:r>
              <a:rPr lang="en-US" dirty="0"/>
              <a:t>They work fast, keep costs low, and give you exactly what you asked for — </a:t>
            </a:r>
            <a:r>
              <a:rPr lang="en-US" b="1" dirty="0"/>
              <a:t>but they don’t think deeply or cross-check across multiple sources.</a:t>
            </a:r>
          </a:p>
          <a:p>
            <a:pPr>
              <a:buFont typeface="Arial" panose="020B0604020202020204" pitchFamily="34" charset="0"/>
              <a:buChar char="•"/>
            </a:pPr>
            <a:endParaRPr lang="en-US" dirty="0"/>
          </a:p>
          <a:p>
            <a:pPr>
              <a:buFont typeface="Arial" panose="020B0604020202020204" pitchFamily="34" charset="0"/>
              <a:buChar char="•"/>
            </a:pPr>
            <a:r>
              <a:rPr lang="en-US" dirty="0"/>
              <a:t>✅ Best for: OCR, extracting tables, structuring call transcripts, summarizing videos.</a:t>
            </a:r>
          </a:p>
        </p:txBody>
      </p:sp>
      <p:sp>
        <p:nvSpPr>
          <p:cNvPr id="7" name="TextBox 6">
            <a:extLst>
              <a:ext uri="{FF2B5EF4-FFF2-40B4-BE49-F238E27FC236}">
                <a16:creationId xmlns:a16="http://schemas.microsoft.com/office/drawing/2014/main" id="{14B5E896-E250-75EE-DD60-FEB4180C6661}"/>
              </a:ext>
            </a:extLst>
          </p:cNvPr>
          <p:cNvSpPr txBox="1"/>
          <p:nvPr/>
        </p:nvSpPr>
        <p:spPr>
          <a:xfrm>
            <a:off x="6096000" y="889843"/>
            <a:ext cx="6097712" cy="5078313"/>
          </a:xfrm>
          <a:prstGeom prst="rect">
            <a:avLst/>
          </a:prstGeom>
          <a:noFill/>
        </p:spPr>
        <p:txBody>
          <a:bodyPr wrap="square">
            <a:spAutoFit/>
          </a:bodyPr>
          <a:lstStyle/>
          <a:p>
            <a:pPr>
              <a:buNone/>
            </a:pPr>
            <a:r>
              <a:rPr lang="en-US" b="1" dirty="0"/>
              <a:t>🧠 Pro Mode = Senior Analyst</a:t>
            </a:r>
          </a:p>
          <a:p>
            <a:pPr>
              <a:buFont typeface="Arial" panose="020B0604020202020204" pitchFamily="34" charset="0"/>
              <a:buChar char="•"/>
            </a:pPr>
            <a:r>
              <a:rPr lang="en-US" dirty="0"/>
              <a:t>Now imagine hiring a </a:t>
            </a:r>
            <a:r>
              <a:rPr lang="en-US" b="1" dirty="0"/>
              <a:t>senior analyst</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You don’t just give them one file — you give them </a:t>
            </a:r>
            <a:r>
              <a:rPr lang="en-US" i="1" dirty="0"/>
              <a:t>multiple documents</a:t>
            </a:r>
            <a:r>
              <a:rPr lang="en-US" dirty="0"/>
              <a:t> (e.g., invoice + purchase order + contract).</a:t>
            </a:r>
          </a:p>
          <a:p>
            <a:pPr>
              <a:buFont typeface="Arial" panose="020B0604020202020204" pitchFamily="34" charset="0"/>
              <a:buChar char="•"/>
            </a:pPr>
            <a:endParaRPr lang="en-US" dirty="0"/>
          </a:p>
          <a:p>
            <a:pPr>
              <a:buFont typeface="Arial" panose="020B0604020202020204" pitchFamily="34" charset="0"/>
              <a:buChar char="•"/>
            </a:pPr>
            <a:r>
              <a:rPr lang="en-US" dirty="0"/>
              <a:t>You also hand them </a:t>
            </a:r>
            <a:r>
              <a:rPr lang="en-US" b="1" dirty="0"/>
              <a:t>reference material</a:t>
            </a:r>
            <a:r>
              <a:rPr lang="en-US" dirty="0"/>
              <a:t> (like company policies).</a:t>
            </a:r>
          </a:p>
          <a:p>
            <a:pPr>
              <a:buFont typeface="Arial" panose="020B0604020202020204" pitchFamily="34" charset="0"/>
              <a:buChar char="•"/>
            </a:pPr>
            <a:endParaRPr lang="en-US" dirty="0"/>
          </a:p>
          <a:p>
            <a:pPr>
              <a:buFont typeface="Arial" panose="020B0604020202020204" pitchFamily="34" charset="0"/>
              <a:buChar char="•"/>
            </a:pPr>
            <a:r>
              <a:rPr lang="en-US" dirty="0"/>
              <a:t>They read, compare, and </a:t>
            </a:r>
            <a:r>
              <a:rPr lang="en-US" b="1" dirty="0"/>
              <a:t>reason across documents</a:t>
            </a:r>
            <a:r>
              <a:rPr lang="en-US" dirty="0"/>
              <a:t>:</a:t>
            </a:r>
          </a:p>
          <a:p>
            <a:pPr marL="742950" lvl="1" indent="-285750">
              <a:buFont typeface="Arial" panose="020B0604020202020204" pitchFamily="34" charset="0"/>
              <a:buChar char="•"/>
            </a:pPr>
            <a:r>
              <a:rPr lang="en-US" i="1" dirty="0"/>
              <a:t>“Does the invoice match the contract?”</a:t>
            </a:r>
            <a:endParaRPr lang="en-US" dirty="0"/>
          </a:p>
          <a:p>
            <a:pPr marL="742950" lvl="1" indent="-285750">
              <a:buFont typeface="Arial" panose="020B0604020202020204" pitchFamily="34" charset="0"/>
              <a:buChar char="•"/>
            </a:pPr>
            <a:r>
              <a:rPr lang="en-US" i="1" dirty="0"/>
              <a:t>“Are there inconsistencies?”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dirty="0"/>
              <a:t>They take longer and cost more, but they deliver </a:t>
            </a:r>
            <a:r>
              <a:rPr lang="en-US" b="1" dirty="0"/>
              <a:t>judgment calls and insights</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 Best for: compliance checks, validating contracts, complex decision-making.</a:t>
            </a:r>
          </a:p>
        </p:txBody>
      </p:sp>
      <p:cxnSp>
        <p:nvCxnSpPr>
          <p:cNvPr id="9" name="Straight Connector 8">
            <a:extLst>
              <a:ext uri="{FF2B5EF4-FFF2-40B4-BE49-F238E27FC236}">
                <a16:creationId xmlns:a16="http://schemas.microsoft.com/office/drawing/2014/main" id="{8376FEE4-3DDB-4CC2-8F19-016E70DA2667}"/>
              </a:ext>
            </a:extLst>
          </p:cNvPr>
          <p:cNvCxnSpPr/>
          <p:nvPr/>
        </p:nvCxnSpPr>
        <p:spPr>
          <a:xfrm>
            <a:off x="5959011" y="889843"/>
            <a:ext cx="0" cy="5675344"/>
          </a:xfrm>
          <a:prstGeom prst="line">
            <a:avLst/>
          </a:prstGeom>
          <a:ln w="3810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30693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9F12D-ECF5-48BA-AB32-9D0D9BD5A2A5}"/>
              </a:ext>
            </a:extLst>
          </p:cNvPr>
          <p:cNvSpPr>
            <a:spLocks noGrp="1"/>
          </p:cNvSpPr>
          <p:nvPr>
            <p:ph type="title"/>
          </p:nvPr>
        </p:nvSpPr>
        <p:spPr>
          <a:xfrm>
            <a:off x="1382731" y="-128034"/>
            <a:ext cx="10515600" cy="1325563"/>
          </a:xfrm>
        </p:spPr>
        <p:txBody>
          <a:bodyPr>
            <a:normAutofit fontScale="90000"/>
          </a:bodyPr>
          <a:lstStyle/>
          <a:p>
            <a:br>
              <a:rPr lang="en-US" dirty="0"/>
            </a:br>
            <a:r>
              <a:rPr lang="en-US" b="1" dirty="0"/>
              <a:t>🧾 Example Use Case: Invoice Processing</a:t>
            </a:r>
            <a:br>
              <a:rPr lang="en-US" b="1" dirty="0"/>
            </a:br>
            <a:endParaRPr lang="en-IN" dirty="0"/>
          </a:p>
        </p:txBody>
      </p:sp>
      <p:sp>
        <p:nvSpPr>
          <p:cNvPr id="5" name="TextBox 4">
            <a:extLst>
              <a:ext uri="{FF2B5EF4-FFF2-40B4-BE49-F238E27FC236}">
                <a16:creationId xmlns:a16="http://schemas.microsoft.com/office/drawing/2014/main" id="{126ACCB9-A768-9779-4710-47E147B8A826}"/>
              </a:ext>
            </a:extLst>
          </p:cNvPr>
          <p:cNvSpPr txBox="1"/>
          <p:nvPr/>
        </p:nvSpPr>
        <p:spPr>
          <a:xfrm>
            <a:off x="357027" y="1774376"/>
            <a:ext cx="6097712" cy="3693319"/>
          </a:xfrm>
          <a:prstGeom prst="rect">
            <a:avLst/>
          </a:prstGeom>
          <a:noFill/>
        </p:spPr>
        <p:txBody>
          <a:bodyPr wrap="square">
            <a:spAutoFit/>
          </a:bodyPr>
          <a:lstStyle/>
          <a:p>
            <a:pPr>
              <a:buNone/>
            </a:pPr>
            <a:r>
              <a:rPr lang="en-US" b="1" dirty="0"/>
              <a:t>Standard Mode (Assistant)</a:t>
            </a:r>
            <a:endParaRPr lang="en-US" dirty="0"/>
          </a:p>
          <a:p>
            <a:pPr>
              <a:buFont typeface="Arial" panose="020B0604020202020204" pitchFamily="34" charset="0"/>
              <a:buChar char="•"/>
            </a:pPr>
            <a:r>
              <a:rPr lang="en-US" dirty="0"/>
              <a:t>Company uploads thousands of supplier invoices.</a:t>
            </a:r>
          </a:p>
          <a:p>
            <a:pPr>
              <a:buFont typeface="Arial" panose="020B0604020202020204" pitchFamily="34" charset="0"/>
              <a:buChar char="•"/>
            </a:pPr>
            <a:endParaRPr lang="en-US" dirty="0"/>
          </a:p>
          <a:p>
            <a:pPr>
              <a:buFont typeface="Arial" panose="020B0604020202020204" pitchFamily="34" charset="0"/>
              <a:buChar char="•"/>
            </a:pPr>
            <a:r>
              <a:rPr lang="en-US" dirty="0"/>
              <a:t>Azure AI Content Understanding </a:t>
            </a:r>
            <a:r>
              <a:rPr lang="en-US" b="1" dirty="0"/>
              <a:t>extracts fields</a:t>
            </a:r>
            <a:r>
              <a:rPr lang="en-US" dirty="0"/>
              <a:t> like:</a:t>
            </a:r>
          </a:p>
          <a:p>
            <a:pPr marL="742950" lvl="1" indent="-285750">
              <a:buFont typeface="Arial" panose="020B0604020202020204" pitchFamily="34" charset="0"/>
              <a:buChar char="•"/>
            </a:pPr>
            <a:r>
              <a:rPr lang="en-US" dirty="0"/>
              <a:t>Invoice Number</a:t>
            </a:r>
          </a:p>
          <a:p>
            <a:pPr marL="742950" lvl="1" indent="-285750">
              <a:buFont typeface="Arial" panose="020B0604020202020204" pitchFamily="34" charset="0"/>
              <a:buChar char="•"/>
            </a:pPr>
            <a:r>
              <a:rPr lang="en-US" dirty="0"/>
              <a:t>Date</a:t>
            </a:r>
          </a:p>
          <a:p>
            <a:pPr marL="742950" lvl="1" indent="-285750">
              <a:buFont typeface="Arial" panose="020B0604020202020204" pitchFamily="34" charset="0"/>
              <a:buChar char="•"/>
            </a:pPr>
            <a:r>
              <a:rPr lang="en-US" dirty="0"/>
              <a:t>Vendor Name</a:t>
            </a:r>
          </a:p>
          <a:p>
            <a:pPr marL="742950" lvl="1" indent="-285750">
              <a:buFont typeface="Arial" panose="020B0604020202020204" pitchFamily="34" charset="0"/>
              <a:buChar char="•"/>
            </a:pPr>
            <a:r>
              <a:rPr lang="en-US" dirty="0"/>
              <a:t>Line Items + Amounts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dirty="0"/>
              <a:t>Output is structured data → ready for databases, RAG search, or dashboards.</a:t>
            </a:r>
          </a:p>
          <a:p>
            <a:pPr>
              <a:buFont typeface="Arial" panose="020B0604020202020204" pitchFamily="34" charset="0"/>
              <a:buChar char="•"/>
            </a:pPr>
            <a:endParaRPr lang="en-US" dirty="0"/>
          </a:p>
          <a:p>
            <a:pPr>
              <a:buFont typeface="Arial" panose="020B0604020202020204" pitchFamily="34" charset="0"/>
              <a:buChar char="•"/>
            </a:pPr>
            <a:r>
              <a:rPr lang="en-US" dirty="0"/>
              <a:t>✅ Fast, scalable, cost-effective.</a:t>
            </a:r>
          </a:p>
        </p:txBody>
      </p:sp>
      <p:sp>
        <p:nvSpPr>
          <p:cNvPr id="7" name="TextBox 6">
            <a:extLst>
              <a:ext uri="{FF2B5EF4-FFF2-40B4-BE49-F238E27FC236}">
                <a16:creationId xmlns:a16="http://schemas.microsoft.com/office/drawing/2014/main" id="{2D63E020-58A2-EBAA-D525-224C5ED3A01D}"/>
              </a:ext>
            </a:extLst>
          </p:cNvPr>
          <p:cNvSpPr txBox="1"/>
          <p:nvPr/>
        </p:nvSpPr>
        <p:spPr>
          <a:xfrm>
            <a:off x="6094288" y="1774376"/>
            <a:ext cx="6097712" cy="3416320"/>
          </a:xfrm>
          <a:prstGeom prst="rect">
            <a:avLst/>
          </a:prstGeom>
          <a:noFill/>
        </p:spPr>
        <p:txBody>
          <a:bodyPr wrap="square">
            <a:spAutoFit/>
          </a:bodyPr>
          <a:lstStyle/>
          <a:p>
            <a:pPr>
              <a:buNone/>
            </a:pPr>
            <a:r>
              <a:rPr lang="en-US" b="1" dirty="0"/>
              <a:t>Pro Mode (Analyst)</a:t>
            </a:r>
            <a:endParaRPr lang="en-US" dirty="0"/>
          </a:p>
          <a:p>
            <a:pPr>
              <a:buFont typeface="Arial" panose="020B0604020202020204" pitchFamily="34" charset="0"/>
              <a:buChar char="•"/>
            </a:pPr>
            <a:r>
              <a:rPr lang="en-US" dirty="0"/>
              <a:t>Same invoices are uploaded </a:t>
            </a:r>
            <a:r>
              <a:rPr lang="en-US" b="1" dirty="0"/>
              <a:t>along with purchase orders &amp; contracts</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Azure AI Content Understanding (Pro) </a:t>
            </a:r>
            <a:r>
              <a:rPr lang="en-US" b="1" dirty="0"/>
              <a:t>reasons across documents</a:t>
            </a:r>
            <a:r>
              <a:rPr lang="en-US" dirty="0"/>
              <a:t>:</a:t>
            </a:r>
          </a:p>
          <a:p>
            <a:pPr marL="742950" lvl="1" indent="-285750">
              <a:buFont typeface="Arial" panose="020B0604020202020204" pitchFamily="34" charset="0"/>
              <a:buChar char="•"/>
            </a:pPr>
            <a:r>
              <a:rPr lang="en-US" i="1" dirty="0"/>
              <a:t>“Does this invoice total match the purchase order?”</a:t>
            </a:r>
            <a:endParaRPr lang="en-US" dirty="0"/>
          </a:p>
          <a:p>
            <a:pPr marL="742950" lvl="1" indent="-285750">
              <a:buFont typeface="Arial" panose="020B0604020202020204" pitchFamily="34" charset="0"/>
              <a:buChar char="•"/>
            </a:pPr>
            <a:r>
              <a:rPr lang="en-US" i="1" dirty="0"/>
              <a:t>“Is the vendor billing for items outside the contract?”</a:t>
            </a:r>
            <a:endParaRPr lang="en-US" dirty="0"/>
          </a:p>
          <a:p>
            <a:pPr marL="742950" lvl="1" indent="-285750">
              <a:buFont typeface="Arial" panose="020B0604020202020204" pitchFamily="34" charset="0"/>
              <a:buChar char="•"/>
            </a:pPr>
            <a:r>
              <a:rPr lang="en-US" i="1" dirty="0"/>
              <a:t>“Are there inconsistencies that need review?”</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dirty="0"/>
              <a:t>✅ Ideal for compliance, fraud detection, and audits.</a:t>
            </a:r>
          </a:p>
          <a:p>
            <a:pPr>
              <a:buFont typeface="Arial" panose="020B0604020202020204" pitchFamily="34" charset="0"/>
              <a:buChar char="•"/>
            </a:pPr>
            <a:endParaRPr lang="en-US" dirty="0"/>
          </a:p>
        </p:txBody>
      </p:sp>
      <p:cxnSp>
        <p:nvCxnSpPr>
          <p:cNvPr id="8" name="Straight Connector 7">
            <a:extLst>
              <a:ext uri="{FF2B5EF4-FFF2-40B4-BE49-F238E27FC236}">
                <a16:creationId xmlns:a16="http://schemas.microsoft.com/office/drawing/2014/main" id="{1A5C0ACF-ADE0-7AC2-5F85-E2F9200E8660}"/>
              </a:ext>
            </a:extLst>
          </p:cNvPr>
          <p:cNvCxnSpPr/>
          <p:nvPr/>
        </p:nvCxnSpPr>
        <p:spPr>
          <a:xfrm>
            <a:off x="5959011" y="889843"/>
            <a:ext cx="0" cy="5675344"/>
          </a:xfrm>
          <a:prstGeom prst="line">
            <a:avLst/>
          </a:prstGeom>
          <a:ln w="3810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595356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C129-4428-38FB-DC86-47523308EEEC}"/>
              </a:ext>
            </a:extLst>
          </p:cNvPr>
          <p:cNvSpPr>
            <a:spLocks noGrp="1"/>
          </p:cNvSpPr>
          <p:nvPr>
            <p:ph type="title"/>
          </p:nvPr>
        </p:nvSpPr>
        <p:spPr>
          <a:xfrm>
            <a:off x="940942" y="-282146"/>
            <a:ext cx="10515600" cy="1325563"/>
          </a:xfrm>
        </p:spPr>
        <p:txBody>
          <a:bodyPr/>
          <a:lstStyle/>
          <a:p>
            <a:pPr algn="ctr"/>
            <a:r>
              <a:rPr lang="en-US" dirty="0"/>
              <a:t>Pricing</a:t>
            </a:r>
            <a:endParaRPr lang="en-IN" dirty="0"/>
          </a:p>
        </p:txBody>
      </p:sp>
      <p:pic>
        <p:nvPicPr>
          <p:cNvPr id="5" name="Content Placeholder 4">
            <a:extLst>
              <a:ext uri="{FF2B5EF4-FFF2-40B4-BE49-F238E27FC236}">
                <a16:creationId xmlns:a16="http://schemas.microsoft.com/office/drawing/2014/main" id="{6DE215F2-5D9B-A3AE-58EC-7F4C11EFC349}"/>
              </a:ext>
            </a:extLst>
          </p:cNvPr>
          <p:cNvPicPr>
            <a:picLocks noGrp="1" noChangeAspect="1"/>
          </p:cNvPicPr>
          <p:nvPr>
            <p:ph idx="1"/>
          </p:nvPr>
        </p:nvPicPr>
        <p:blipFill>
          <a:blip r:embed="rId2"/>
          <a:stretch>
            <a:fillRect/>
          </a:stretch>
        </p:blipFill>
        <p:spPr>
          <a:xfrm>
            <a:off x="653265" y="1283403"/>
            <a:ext cx="11230074" cy="1432102"/>
          </a:xfrm>
          <a:prstGeom prst="rect">
            <a:avLst/>
          </a:prstGeom>
        </p:spPr>
      </p:pic>
      <p:pic>
        <p:nvPicPr>
          <p:cNvPr id="7" name="Picture 6">
            <a:extLst>
              <a:ext uri="{FF2B5EF4-FFF2-40B4-BE49-F238E27FC236}">
                <a16:creationId xmlns:a16="http://schemas.microsoft.com/office/drawing/2014/main" id="{E939544D-752A-F368-B8E2-D43A9BC7B818}"/>
              </a:ext>
            </a:extLst>
          </p:cNvPr>
          <p:cNvPicPr>
            <a:picLocks noChangeAspect="1"/>
          </p:cNvPicPr>
          <p:nvPr/>
        </p:nvPicPr>
        <p:blipFill>
          <a:blip r:embed="rId3"/>
          <a:stretch>
            <a:fillRect/>
          </a:stretch>
        </p:blipFill>
        <p:spPr>
          <a:xfrm>
            <a:off x="653265" y="3226086"/>
            <a:ext cx="11068957" cy="3081532"/>
          </a:xfrm>
          <a:prstGeom prst="rect">
            <a:avLst/>
          </a:prstGeom>
        </p:spPr>
      </p:pic>
    </p:spTree>
    <p:extLst>
      <p:ext uri="{BB962C8B-B14F-4D97-AF65-F5344CB8AC3E}">
        <p14:creationId xmlns:p14="http://schemas.microsoft.com/office/powerpoint/2010/main" val="4013418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901CF8E-B9BF-0F40-6BD3-B30E6DEFF278}"/>
              </a:ext>
            </a:extLst>
          </p:cNvPr>
          <p:cNvPicPr>
            <a:picLocks noGrp="1" noChangeAspect="1"/>
          </p:cNvPicPr>
          <p:nvPr>
            <p:ph idx="1"/>
          </p:nvPr>
        </p:nvPicPr>
        <p:blipFill>
          <a:blip r:embed="rId2"/>
          <a:stretch>
            <a:fillRect/>
          </a:stretch>
        </p:blipFill>
        <p:spPr>
          <a:xfrm>
            <a:off x="838200" y="20342"/>
            <a:ext cx="10515600" cy="3408658"/>
          </a:xfrm>
          <a:prstGeom prst="rect">
            <a:avLst/>
          </a:prstGeom>
        </p:spPr>
      </p:pic>
      <p:pic>
        <p:nvPicPr>
          <p:cNvPr id="5" name="Picture 4">
            <a:extLst>
              <a:ext uri="{FF2B5EF4-FFF2-40B4-BE49-F238E27FC236}">
                <a16:creationId xmlns:a16="http://schemas.microsoft.com/office/drawing/2014/main" id="{C4722A91-286B-BB55-51E6-5350A74E4392}"/>
              </a:ext>
            </a:extLst>
          </p:cNvPr>
          <p:cNvPicPr>
            <a:picLocks noChangeAspect="1"/>
          </p:cNvPicPr>
          <p:nvPr/>
        </p:nvPicPr>
        <p:blipFill>
          <a:blip r:embed="rId3"/>
          <a:stretch>
            <a:fillRect/>
          </a:stretch>
        </p:blipFill>
        <p:spPr>
          <a:xfrm>
            <a:off x="1457555" y="3640704"/>
            <a:ext cx="9276890" cy="2513516"/>
          </a:xfrm>
          <a:prstGeom prst="rect">
            <a:avLst/>
          </a:prstGeom>
        </p:spPr>
      </p:pic>
    </p:spTree>
    <p:extLst>
      <p:ext uri="{BB962C8B-B14F-4D97-AF65-F5344CB8AC3E}">
        <p14:creationId xmlns:p14="http://schemas.microsoft.com/office/powerpoint/2010/main" val="3236158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720</Words>
  <Application>Microsoft Office PowerPoint</Application>
  <PresentationFormat>Widescreen</PresentationFormat>
  <Paragraphs>66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Azure AI Content Understanding</vt:lpstr>
      <vt:lpstr>📖 Scenario: Retail Company Using Azure AI Content Understanding</vt:lpstr>
      <vt:lpstr>PowerPoint Presentation</vt:lpstr>
      <vt:lpstr>Extra Add-Ons: Classifier and Face Detection</vt:lpstr>
      <vt:lpstr>Pro v/s Standard Modes</vt:lpstr>
      <vt:lpstr> 🧾 Example Use Case: Invoice Processing </vt:lpstr>
      <vt:lpstr>Pricing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2025-09-24T18:36:27Z</dcterms:created>
  <dcterms:modified xsi:type="dcterms:W3CDTF">2025-09-24T19:01:04Z</dcterms:modified>
</cp:coreProperties>
</file>