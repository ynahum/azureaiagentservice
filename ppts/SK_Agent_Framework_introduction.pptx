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04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77299-DE18-538F-8040-B3F25AA203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1006A6-3A3C-4A13-0C40-6DDAD11126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0898C-B34A-6397-FDF9-02A430E4D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AFEC1-79F3-4B7C-B43D-3FC57B2E3022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19B40-B8AE-64A2-95A9-47D82F746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6F6C7-C7A4-EEBE-4B16-C8BC1A9A6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A5F13-11DC-4A25-A466-236B8F4CED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7194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9DC25-E22C-6ECB-AABC-6CE7EBA46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B1665-1674-FE87-26B2-E0F624640B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BE1D1-944C-E95E-2F7C-9BFF5FD78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AFEC1-79F3-4B7C-B43D-3FC57B2E3022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2BE3D-7E01-24D9-B2F9-923C196B3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5986B0-B201-A6E9-555B-A64FBA7CB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A5F13-11DC-4A25-A466-236B8F4CED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315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F4FBE-F19F-B1E7-5BA5-97B3F3E9D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424585-0C05-0B56-8953-1601276E3C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3F126-C898-7FA0-91F9-0A61A0511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AFEC1-79F3-4B7C-B43D-3FC57B2E3022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4CE60-957B-47F8-39C3-65B903673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0123AD-26A7-6503-3240-923F2C530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A5F13-11DC-4A25-A466-236B8F4CED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4213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0A7F9-D7EF-ABFB-92B4-72D7D54B4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1CF4F-13C9-FECB-34F6-BB79033559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810A02-E793-F191-0DB8-0029733AC3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B76800-D17F-677F-2F70-973BF55DF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AFEC1-79F3-4B7C-B43D-3FC57B2E3022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D24C1-FE7B-718F-2CB6-50BBEFFAB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6054E8-7A7B-58A2-D822-ED72BBFC7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A5F13-11DC-4A25-A466-236B8F4CED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9558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9C631-1554-C19A-D047-FA57329A2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9B244E-D3AC-1C00-2C10-C0BC3B815B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7CA67D-CB25-134C-22D0-E0313CB7A4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0C86DA-F6CD-2F9C-926B-C2AF582768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0BAEC5-8952-1602-022A-84C6B26CF7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AD901C-6C91-C518-23EB-6E73294BE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AFEC1-79F3-4B7C-B43D-3FC57B2E3022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53AC01-E2A3-E532-CFC5-C9CE2ABEF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9B60A2-4A0E-FBEB-BF8F-B38761189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A5F13-11DC-4A25-A466-236B8F4CED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7755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5473B-D34C-F988-FF0A-E6A5609D0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F8F3EF-C5B3-88F0-4C6F-AB1BE4268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AFEC1-79F3-4B7C-B43D-3FC57B2E3022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52BAE4-40E6-E74C-99FC-3E60A9303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D10110-4A47-F3C5-1DFE-7FE9E8055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A5F13-11DC-4A25-A466-236B8F4CED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260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9E31EF-623B-20F0-CC0E-FAEFBACB0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AFEC1-79F3-4B7C-B43D-3FC57B2E3022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283FA4-32AA-6160-F2A1-C0A87FB91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D0A67F-6A79-E597-7B89-112FF6865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A5F13-11DC-4A25-A466-236B8F4CED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2846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8A72A-D63F-7899-CC80-56593E629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BAEEE-C1D3-9EDF-517A-6C97FD93F3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238EB8-BAD7-C366-A70E-6E2849ADD3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0DB541-6186-3458-4848-AF0E21D64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AFEC1-79F3-4B7C-B43D-3FC57B2E3022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990C59-DC56-A645-A868-861460C67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823DE9-54CE-D3AB-67C7-A3BC9FC66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A5F13-11DC-4A25-A466-236B8F4CED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9991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39D56-B60E-8ECF-0713-3FD3401DD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579FEC-F9CD-A15C-59A0-E837FF28E5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31663B-1E5B-E21F-9168-A14346A481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99FA26-230E-4BCB-1C70-93FC6F403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AFEC1-79F3-4B7C-B43D-3FC57B2E3022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D282AF-9AF6-6FB4-A5EA-2636DCD2E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11646C-D42A-3AF0-5560-CA73BEB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A5F13-11DC-4A25-A466-236B8F4CED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9454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E9C12-565A-9168-F0D4-76CBC3ADD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806406-61C0-A7EF-B8D9-D86C9CAA8D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224A1-D14D-1261-DE7E-6795621E6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AFEC1-79F3-4B7C-B43D-3FC57B2E3022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977BE-8F79-1FA6-84A7-799CDE1D3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191279-C048-38F9-C381-F81FA92C5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A5F13-11DC-4A25-A466-236B8F4CED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4281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A76B16-4771-D499-69EA-5FCEDF90BA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2541A8-EA3F-869D-9390-CC0A101E88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75EC7C-CEAE-6DC9-731C-C1B3A1223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AFEC1-79F3-4B7C-B43D-3FC57B2E3022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5B69A-3691-0833-5D74-60D8E607B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B1DF61-4076-AF75-0C4B-6A0B71083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A5F13-11DC-4A25-A466-236B8F4CED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3472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860767-FD1F-43E0-1383-8D24F1C78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A63660-B4C1-B67C-A4DA-8891AB553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475341-E12D-B303-191B-BB139C641C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3AFEC1-79F3-4B7C-B43D-3FC57B2E3022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8C817-DBDA-95BB-EFC1-2F351545EB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4C3FA-F2D3-872D-2F27-A443824CB5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8A5F13-11DC-4A25-A466-236B8F4CED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755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75DBDC-6EDD-2A87-408D-4CE42931A5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6980" y="2984992"/>
            <a:ext cx="5189019" cy="2387600"/>
          </a:xfrm>
        </p:spPr>
        <p:txBody>
          <a:bodyPr anchor="t">
            <a:normAutofit/>
          </a:bodyPr>
          <a:lstStyle/>
          <a:p>
            <a:pPr algn="l"/>
            <a:r>
              <a:rPr lang="en-US" sz="5400" dirty="0"/>
              <a:t>Semantic Kernel</a:t>
            </a:r>
            <a:endParaRPr lang="en-IN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103E9F-7538-45F4-F3E9-EBE0E9C916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110" y="2443050"/>
            <a:ext cx="4036333" cy="1709849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/>
              <a:t>(Agent Framework)</a:t>
            </a:r>
            <a:endParaRPr lang="en-IN" sz="2000" dirty="0"/>
          </a:p>
        </p:txBody>
      </p:sp>
      <p:grpSp>
        <p:nvGrpSpPr>
          <p:cNvPr id="1033" name="Group 1032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034" name="Rectangle 1033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5" name="Rectangle 1034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6" name="Rectangle 1035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An Introduction to Semantic Kernel and Semantic Understanding">
            <a:extLst>
              <a:ext uri="{FF2B5EF4-FFF2-40B4-BE49-F238E27FC236}">
                <a16:creationId xmlns:a16="http://schemas.microsoft.com/office/drawing/2014/main" id="{B3FC0C8B-0924-9A00-356E-22E912FA45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22490" y="1888776"/>
            <a:ext cx="5536001" cy="27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emantic Kernel's new icon and the art of teamwork | Semantic Kernel">
            <a:extLst>
              <a:ext uri="{FF2B5EF4-FFF2-40B4-BE49-F238E27FC236}">
                <a16:creationId xmlns:a16="http://schemas.microsoft.com/office/drawing/2014/main" id="{4BA591A7-6E77-DFB8-E449-07E8F7854C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3601" y="4757549"/>
            <a:ext cx="1230086" cy="1230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emantic Kernel: empower your LLM apps | by Mykhailo Galushko | The DevRain  Tech Blog | Medium">
            <a:extLst>
              <a:ext uri="{FF2B5EF4-FFF2-40B4-BE49-F238E27FC236}">
                <a16:creationId xmlns:a16="http://schemas.microsoft.com/office/drawing/2014/main" id="{F164CB70-903A-3A6C-93B7-ABEC63C652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5556" y="1029355"/>
            <a:ext cx="4589871" cy="1113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3956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17DF6-55EF-FAF1-0291-9CECCBBAA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5656" y="-304800"/>
            <a:ext cx="10515600" cy="1325563"/>
          </a:xfrm>
        </p:spPr>
        <p:txBody>
          <a:bodyPr/>
          <a:lstStyle/>
          <a:p>
            <a:r>
              <a:rPr lang="en-US" dirty="0"/>
              <a:t>Shortcomings with Raw/Crude AI Agents</a:t>
            </a:r>
            <a:endParaRPr lang="en-IN" dirty="0"/>
          </a:p>
        </p:txBody>
      </p:sp>
      <p:pic>
        <p:nvPicPr>
          <p:cNvPr id="5" name="Content Placeholder 4" descr="A diagram of a company">
            <a:extLst>
              <a:ext uri="{FF2B5EF4-FFF2-40B4-BE49-F238E27FC236}">
                <a16:creationId xmlns:a16="http://schemas.microsoft.com/office/drawing/2014/main" id="{6996E866-3AE5-DE28-EEF9-C63EFED505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9456" y="1687285"/>
            <a:ext cx="6828770" cy="384118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3305D5-F7C9-90BD-6836-EA399805D12C}"/>
              </a:ext>
            </a:extLst>
          </p:cNvPr>
          <p:cNvSpPr txBox="1"/>
          <p:nvPr/>
        </p:nvSpPr>
        <p:spPr>
          <a:xfrm>
            <a:off x="170744" y="1020763"/>
            <a:ext cx="4706056" cy="563231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Some of the Shortcomings that we as developers face:</a:t>
            </a:r>
          </a:p>
          <a:p>
            <a:endParaRPr lang="en-US" b="1" dirty="0"/>
          </a:p>
          <a:p>
            <a:pPr marL="342900" indent="-342900">
              <a:buAutoNum type="arabicParenR"/>
            </a:pPr>
            <a:r>
              <a:rPr lang="en-US" dirty="0"/>
              <a:t>No doubt these AI Agents have powerful tools but how do you setup a system where the plan to execute agents is dynamically decided upon?</a:t>
            </a:r>
          </a:p>
          <a:p>
            <a:pPr marL="342900" indent="-342900">
              <a:buAutoNum type="arabicParenR"/>
            </a:pPr>
            <a:endParaRPr lang="en-US" dirty="0"/>
          </a:p>
          <a:p>
            <a:pPr marL="342900" indent="-342900">
              <a:buAutoNum type="arabicParenR"/>
            </a:pPr>
            <a:r>
              <a:rPr lang="en-US" dirty="0"/>
              <a:t>How do you make this systems of AI Agents more human in nature?</a:t>
            </a:r>
          </a:p>
          <a:p>
            <a:pPr marL="342900" indent="-342900">
              <a:buAutoNum type="arabicParenR"/>
            </a:pPr>
            <a:endParaRPr lang="en-US" dirty="0"/>
          </a:p>
          <a:p>
            <a:pPr marL="342900" indent="-342900">
              <a:buAutoNum type="arabicParenR"/>
            </a:pPr>
            <a:r>
              <a:rPr lang="en-US" dirty="0"/>
              <a:t>Can you setup a system where these agents interact with each other, then execute either sequentially or in-parallel and output a refined response.</a:t>
            </a:r>
          </a:p>
          <a:p>
            <a:pPr marL="342900" indent="-342900">
              <a:buAutoNum type="arabicParenR"/>
            </a:pPr>
            <a:endParaRPr lang="en-US" dirty="0"/>
          </a:p>
          <a:p>
            <a:pPr marL="342900" indent="-342900">
              <a:buAutoNum type="arabicParenR"/>
            </a:pPr>
            <a:r>
              <a:rPr lang="en-US" dirty="0"/>
              <a:t>How do I setup a multi-agent system which has a </a:t>
            </a:r>
            <a:r>
              <a:rPr lang="en-US" b="1" dirty="0" err="1"/>
              <a:t>AgentGroupChat</a:t>
            </a:r>
            <a:r>
              <a:rPr lang="en-US" dirty="0"/>
              <a:t> or </a:t>
            </a:r>
            <a:r>
              <a:rPr lang="en-US" b="1" dirty="0" err="1"/>
              <a:t>AgentChannel</a:t>
            </a:r>
            <a:r>
              <a:rPr lang="en-US" dirty="0"/>
              <a:t> capability?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0183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2BE504-71B7-6F97-F31C-D442DF70A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dirty="0"/>
              <a:t>What the SK Agent Framework Solves?</a:t>
            </a:r>
            <a:endParaRPr lang="en-IN" sz="4800" dirty="0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2A7A550-335B-AF79-8F44-41192C2979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11532" y="2892862"/>
            <a:ext cx="5150277" cy="2897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3" name="Rectangle 2062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02ED08-F632-8032-3FB1-5C4B619178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2400" y="2485807"/>
            <a:ext cx="5302250" cy="353943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Modular Orchestration: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Enables dynamic orchestration of AI functions, plugins, and skills using natural language goals.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Goal-Oriented Agents: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Converts user goals into actionable plans, automating complex workflows with minimal coding.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Context Awareness: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Maintains short-term and long-term memory for agents, enabling intelligent, contextual decision-making.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Flexible Integration: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Seamlessly integrates with external APIs, tools, and enterprise data through plugins.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Extensible Architecture: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Offers a pluggable, open-source framework to build, test, and scale AI agents across domains.</a:t>
            </a:r>
          </a:p>
        </p:txBody>
      </p:sp>
    </p:spTree>
    <p:extLst>
      <p:ext uri="{BB962C8B-B14F-4D97-AF65-F5344CB8AC3E}">
        <p14:creationId xmlns:p14="http://schemas.microsoft.com/office/powerpoint/2010/main" val="3065849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55A893E6-1D04-8BB7-C4A9-FFAC9ABFEAF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224" y="157387"/>
            <a:ext cx="6240133" cy="6543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94AB7B3-3A21-F309-E9B3-092A6106249A}"/>
              </a:ext>
            </a:extLst>
          </p:cNvPr>
          <p:cNvSpPr txBox="1"/>
          <p:nvPr/>
        </p:nvSpPr>
        <p:spPr>
          <a:xfrm>
            <a:off x="7445828" y="990600"/>
            <a:ext cx="4365172" cy="147732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The Semantic Kernel Agent Framework is meant to augment your Azure AI Agent Service – thus unlocking the unopened doors to building enterprise ready multi-agentic systems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DB0B32-B6AD-1389-76FE-B696A3BBB4BB}"/>
              </a:ext>
            </a:extLst>
          </p:cNvPr>
          <p:cNvSpPr txBox="1"/>
          <p:nvPr/>
        </p:nvSpPr>
        <p:spPr>
          <a:xfrm>
            <a:off x="7445828" y="3429000"/>
            <a:ext cx="4365172" cy="286232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Semantic Kernel Agent Framework in no way will replace Azure AI Agent Service but rather amplify it:</a:t>
            </a:r>
            <a:br>
              <a:rPr lang="en-US" dirty="0"/>
            </a:br>
            <a:endParaRPr lang="en-US" dirty="0"/>
          </a:p>
          <a:p>
            <a:pPr marL="342900" indent="-342900">
              <a:buAutoNum type="arabicParenR"/>
            </a:pPr>
            <a:r>
              <a:rPr lang="en-US" b="1" dirty="0"/>
              <a:t>Azure AI Agent Service </a:t>
            </a:r>
            <a:r>
              <a:rPr lang="en-US" dirty="0"/>
              <a:t>– Place where you build and maintain domain-specific and skilled agents.</a:t>
            </a:r>
          </a:p>
          <a:p>
            <a:pPr marL="342900" indent="-342900">
              <a:buAutoNum type="arabicParenR"/>
            </a:pPr>
            <a:endParaRPr lang="en-US" dirty="0"/>
          </a:p>
          <a:p>
            <a:pPr marL="342900" indent="-342900">
              <a:buAutoNum type="arabicParenR"/>
            </a:pPr>
            <a:r>
              <a:rPr lang="en-US" b="1" dirty="0"/>
              <a:t>SK Agent Framework </a:t>
            </a:r>
            <a:r>
              <a:rPr lang="en-US" dirty="0"/>
              <a:t>– Use this to bring orchestrate you AI Agents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8671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82BC5C1D-D984-BD47-DB99-269C07B5933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3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3" name="Rectangle 4102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273637-8D51-7F9D-FE54-4B1BD68C4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</a:rPr>
              <a:t>Dissecting the SK Agent Framework</a:t>
            </a:r>
          </a:p>
        </p:txBody>
      </p:sp>
      <p:cxnSp>
        <p:nvCxnSpPr>
          <p:cNvPr id="4105" name="Straight Connector 4104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7" name="Straight Connector 4106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6749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B8662-2B3D-81A2-8336-571D6475F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6543" y="0"/>
            <a:ext cx="10515600" cy="1325563"/>
          </a:xfrm>
        </p:spPr>
        <p:txBody>
          <a:bodyPr/>
          <a:lstStyle/>
          <a:p>
            <a:r>
              <a:rPr lang="en-US" dirty="0"/>
              <a:t>Agent Creation With SK Agent Framework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1D8A9-DC30-87CD-A26A-E54E61849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/>
              <a:t>ChatCompletionAgent</a:t>
            </a:r>
            <a:r>
              <a:rPr lang="en-US" b="1" dirty="0"/>
              <a:t> – </a:t>
            </a:r>
            <a:r>
              <a:rPr lang="en-US" dirty="0"/>
              <a:t>a) Azure OpenAI Models</a:t>
            </a:r>
          </a:p>
          <a:p>
            <a:pPr marL="0" indent="0">
              <a:buNone/>
            </a:pPr>
            <a:r>
              <a:rPr lang="en-US" b="1" dirty="0"/>
              <a:t>                                                         </a:t>
            </a:r>
            <a:r>
              <a:rPr lang="en-US" dirty="0"/>
              <a:t>b) Hugging Face Models (Open-Source)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err="1"/>
              <a:t>OpenAIAssitantAgent</a:t>
            </a:r>
            <a:r>
              <a:rPr lang="en-US" b="1" dirty="0"/>
              <a:t> – </a:t>
            </a:r>
            <a:r>
              <a:rPr lang="en-US" dirty="0"/>
              <a:t>Make use of the OpenAI Assistant API (not really the best!)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err="1"/>
              <a:t>AzureAIAgent</a:t>
            </a:r>
            <a:r>
              <a:rPr lang="en-US" b="1" dirty="0"/>
              <a:t> – </a:t>
            </a:r>
            <a:r>
              <a:rPr lang="en-US" dirty="0"/>
              <a:t>Create Agents in Azure AI Foundry and then create a copy of the agents in the SK Agent Framework</a:t>
            </a:r>
            <a:endParaRPr lang="en-US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42515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87" name="Rectangle 5186">
            <a:extLst>
              <a:ext uri="{FF2B5EF4-FFF2-40B4-BE49-F238E27FC236}">
                <a16:creationId xmlns:a16="http://schemas.microsoft.com/office/drawing/2014/main" id="{1DC5A442-E2D0-4F6D-894C-999AF89A7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88" name="Rectangle 5187">
            <a:extLst>
              <a:ext uri="{FF2B5EF4-FFF2-40B4-BE49-F238E27FC236}">
                <a16:creationId xmlns:a16="http://schemas.microsoft.com/office/drawing/2014/main" id="{90464369-70FA-42AF-948F-80664CA7B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146816"/>
          </a:xfrm>
          <a:prstGeom prst="rect">
            <a:avLst/>
          </a:prstGeom>
          <a:solidFill>
            <a:schemeClr val="bg1">
              <a:lumMod val="85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AEB589A-769A-946E-0EA7-852281CF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646" y="349664"/>
            <a:ext cx="5845571" cy="1638377"/>
          </a:xfrm>
        </p:spPr>
        <p:txBody>
          <a:bodyPr anchor="b">
            <a:normAutofit/>
          </a:bodyPr>
          <a:lstStyle/>
          <a:p>
            <a:r>
              <a:rPr lang="en-US" sz="4800"/>
              <a:t>Agent Chat</a:t>
            </a:r>
            <a:endParaRPr lang="en-IN" sz="4800"/>
          </a:p>
        </p:txBody>
      </p:sp>
      <p:sp>
        <p:nvSpPr>
          <p:cNvPr id="5126" name="Content Placeholder 5125">
            <a:extLst>
              <a:ext uri="{FF2B5EF4-FFF2-40B4-BE49-F238E27FC236}">
                <a16:creationId xmlns:a16="http://schemas.microsoft.com/office/drawing/2014/main" id="{2962059F-A6BC-00D5-AA94-3C2913A482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988" y="2620641"/>
            <a:ext cx="5837750" cy="3023702"/>
          </a:xfrm>
        </p:spPr>
        <p:txBody>
          <a:bodyPr anchor="ctr">
            <a:normAutofit/>
          </a:bodyPr>
          <a:lstStyle/>
          <a:p>
            <a:r>
              <a:rPr lang="en-US" sz="2000"/>
              <a:t>The AgentChat class serves as the foundational component that enables agents of any type to engage in a specific conversation.</a:t>
            </a:r>
          </a:p>
          <a:p>
            <a:endParaRPr lang="en-US" sz="2000"/>
          </a:p>
          <a:p>
            <a:r>
              <a:rPr lang="en-US" sz="2000"/>
              <a:t>Agent Chat Has two important components: </a:t>
            </a:r>
          </a:p>
          <a:p>
            <a:pPr marL="0" indent="0">
              <a:buNone/>
            </a:pPr>
            <a:r>
              <a:rPr lang="en-US" sz="2000"/>
              <a:t>    </a:t>
            </a:r>
            <a:r>
              <a:rPr lang="en-US" sz="2000" b="1"/>
              <a:t>a) Selection Function</a:t>
            </a:r>
          </a:p>
          <a:p>
            <a:pPr marL="0" indent="0">
              <a:buNone/>
            </a:pPr>
            <a:r>
              <a:rPr lang="en-US" sz="2000" b="1"/>
              <a:t>    b) Termination Function</a:t>
            </a:r>
            <a:endParaRPr lang="en-US" sz="2000" b="1" dirty="0"/>
          </a:p>
        </p:txBody>
      </p:sp>
      <p:sp>
        <p:nvSpPr>
          <p:cNvPr id="5189" name="Rectangle 5188">
            <a:extLst>
              <a:ext uri="{FF2B5EF4-FFF2-40B4-BE49-F238E27FC236}">
                <a16:creationId xmlns:a16="http://schemas.microsoft.com/office/drawing/2014/main" id="{CC552A98-EF7D-4D42-AB69-066B786AB5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447" y="399675"/>
            <a:ext cx="4647368" cy="2779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2D05784-BD97-4282-D0EB-37899A2617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02520" y="596271"/>
            <a:ext cx="2273221" cy="2386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68" name="Rectangle 5167">
            <a:extLst>
              <a:ext uri="{FF2B5EF4-FFF2-40B4-BE49-F238E27FC236}">
                <a16:creationId xmlns:a16="http://schemas.microsoft.com/office/drawing/2014/main" id="{A6604B49-AD5C-4590-B051-06C8222E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669568" y="277912"/>
            <a:ext cx="524256" cy="1186339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70" name="Rectangle 5169">
            <a:extLst>
              <a:ext uri="{FF2B5EF4-FFF2-40B4-BE49-F238E27FC236}">
                <a16:creationId xmlns:a16="http://schemas.microsoft.com/office/drawing/2014/main" id="{0BB19363-8354-4E75-A15C-A08F755171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447" y="3429000"/>
            <a:ext cx="4647368" cy="2779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 descr="Semantic Kernel's Agent Framework - SD ...">
            <a:extLst>
              <a:ext uri="{FF2B5EF4-FFF2-40B4-BE49-F238E27FC236}">
                <a16:creationId xmlns:a16="http://schemas.microsoft.com/office/drawing/2014/main" id="{1B6538BB-5E28-0AF3-161B-0AD7BF0037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68650" y="3625596"/>
            <a:ext cx="3540964" cy="2386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72" name="Rectangle 5171">
            <a:extLst>
              <a:ext uri="{FF2B5EF4-FFF2-40B4-BE49-F238E27FC236}">
                <a16:creationId xmlns:a16="http://schemas.microsoft.com/office/drawing/2014/main" id="{A648176E-454C-437C-B0FC-9B82FCF32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774185" y="6131892"/>
            <a:ext cx="524256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087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FDBE0794-2045-8CC6-F6E3-DCE92E71515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6356" y="1054895"/>
            <a:ext cx="9408886" cy="5292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23E4DA-687C-9453-6529-213267BDB514}"/>
              </a:ext>
            </a:extLst>
          </p:cNvPr>
          <p:cNvSpPr txBox="1"/>
          <p:nvPr/>
        </p:nvSpPr>
        <p:spPr>
          <a:xfrm>
            <a:off x="293914" y="163286"/>
            <a:ext cx="5932715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Planner or Agent Chat System</a:t>
            </a:r>
          </a:p>
          <a:p>
            <a:pPr algn="ctr"/>
            <a:r>
              <a:rPr lang="en-US" dirty="0"/>
              <a:t>Will be called to utilize the best-suited team of agents</a:t>
            </a:r>
            <a:endParaRPr lang="en-IN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5836495-1A97-54B0-185E-70EF586F3519}"/>
              </a:ext>
            </a:extLst>
          </p:cNvPr>
          <p:cNvCxnSpPr/>
          <p:nvPr/>
        </p:nvCxnSpPr>
        <p:spPr>
          <a:xfrm flipH="1" flipV="1">
            <a:off x="3363686" y="870857"/>
            <a:ext cx="3755571" cy="18505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47846E4-5959-5BBE-4A93-1F340128E110}"/>
              </a:ext>
            </a:extLst>
          </p:cNvPr>
          <p:cNvSpPr txBox="1"/>
          <p:nvPr/>
        </p:nvSpPr>
        <p:spPr>
          <a:xfrm>
            <a:off x="6966856" y="554620"/>
            <a:ext cx="5105401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Thread Management is taken care by the SK Agent Framework to store some kind of “RAM” to provide contextual insights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04B8DA8-C839-90C2-DCEC-96B09E63537C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8643257" y="1477950"/>
            <a:ext cx="876300" cy="14829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CF52473-665B-596C-9EF4-A068C4D8BA5C}"/>
              </a:ext>
            </a:extLst>
          </p:cNvPr>
          <p:cNvCxnSpPr>
            <a:cxnSpLocks/>
          </p:cNvCxnSpPr>
          <p:nvPr/>
        </p:nvCxnSpPr>
        <p:spPr>
          <a:xfrm flipH="1">
            <a:off x="8637814" y="4386943"/>
            <a:ext cx="1311729" cy="14987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89964DE-E56C-B68A-E016-7924D4A802D5}"/>
              </a:ext>
            </a:extLst>
          </p:cNvPr>
          <p:cNvSpPr txBox="1"/>
          <p:nvPr/>
        </p:nvSpPr>
        <p:spPr>
          <a:xfrm>
            <a:off x="5083629" y="5885728"/>
            <a:ext cx="7108371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You can build native and prompt template plugins for your </a:t>
            </a:r>
            <a:r>
              <a:rPr lang="en-US" b="1" dirty="0" err="1"/>
              <a:t>ChatCompletionAgent</a:t>
            </a:r>
            <a:r>
              <a:rPr lang="en-US" dirty="0"/>
              <a:t> or Out-Of-The-Box Plugins like AI Search, Logic Apps etc. in </a:t>
            </a:r>
            <a:r>
              <a:rPr lang="en-US" b="1" dirty="0" err="1"/>
              <a:t>AzureAIAgent</a:t>
            </a:r>
            <a:endParaRPr lang="en-US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1A0797-35F0-6781-B263-E52F5F480F22}"/>
              </a:ext>
            </a:extLst>
          </p:cNvPr>
          <p:cNvSpPr txBox="1"/>
          <p:nvPr/>
        </p:nvSpPr>
        <p:spPr>
          <a:xfrm>
            <a:off x="609598" y="5516396"/>
            <a:ext cx="3233057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The user gets the response!</a:t>
            </a:r>
            <a:endParaRPr lang="en-IN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07FF1C4-F1A4-0D2E-0BC6-77FA1720D22E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2226127" y="5040086"/>
            <a:ext cx="3162302" cy="4763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6481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37000-15D8-C6E2-7DC4-4DD97D7CA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286" y="-26624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Do I Still require the “Kernel” ?</a:t>
            </a:r>
            <a:endParaRPr lang="en-IN" dirty="0"/>
          </a:p>
        </p:txBody>
      </p:sp>
      <p:pic>
        <p:nvPicPr>
          <p:cNvPr id="5" name="Content Placeholder 4" descr="A diagram of a child's brain&#10;&#10;AI-generated content may be incorrect.">
            <a:extLst>
              <a:ext uri="{FF2B5EF4-FFF2-40B4-BE49-F238E27FC236}">
                <a16:creationId xmlns:a16="http://schemas.microsoft.com/office/drawing/2014/main" id="{3404B178-1896-7B20-0FB9-E22FEB39EB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1327" y="845344"/>
            <a:ext cx="8523515" cy="479447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E94F25-65FE-352F-2075-1E05507AA9B1}"/>
              </a:ext>
            </a:extLst>
          </p:cNvPr>
          <p:cNvSpPr txBox="1"/>
          <p:nvPr/>
        </p:nvSpPr>
        <p:spPr>
          <a:xfrm>
            <a:off x="1306286" y="5747657"/>
            <a:ext cx="9938657" cy="9233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Even though you have a lot of things to work with now, the “Kernel” will still do the heavy-lifting. You, as a developer, only must worry about building modular components and the kernel will orchestrate these moving-parts/modular components of your application.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2856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504</Words>
  <Application>Microsoft Office PowerPoint</Application>
  <PresentationFormat>Widescreen</PresentationFormat>
  <Paragraphs>47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Semantic Kernel</vt:lpstr>
      <vt:lpstr>Shortcomings with Raw/Crude AI Agents</vt:lpstr>
      <vt:lpstr>What the SK Agent Framework Solves?</vt:lpstr>
      <vt:lpstr>PowerPoint Presentation</vt:lpstr>
      <vt:lpstr>Dissecting the SK Agent Framework</vt:lpstr>
      <vt:lpstr>Agent Creation With SK Agent Framework</vt:lpstr>
      <vt:lpstr>Agent Chat</vt:lpstr>
      <vt:lpstr>PowerPoint Presentation</vt:lpstr>
      <vt:lpstr>Do I Still require the “Kernel”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prabhjot bakshi</dc:creator>
  <cp:lastModifiedBy>prabhjot bakshi</cp:lastModifiedBy>
  <cp:revision>3</cp:revision>
  <dcterms:created xsi:type="dcterms:W3CDTF">2025-04-16T09:10:49Z</dcterms:created>
  <dcterms:modified xsi:type="dcterms:W3CDTF">2025-04-16T18:04:28Z</dcterms:modified>
</cp:coreProperties>
</file>